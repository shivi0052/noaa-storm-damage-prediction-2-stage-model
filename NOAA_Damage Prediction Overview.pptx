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7" r:id="rId12"/>
    <p:sldId id="278" r:id="rId13"/>
    <p:sldId id="279" r:id="rId14"/>
    <p:sldId id="266" r:id="rId15"/>
    <p:sldId id="267" r:id="rId16"/>
    <p:sldId id="268" r:id="rId17"/>
    <p:sldId id="269" r:id="rId18"/>
    <p:sldId id="271" r:id="rId19"/>
    <p:sldId id="273" r:id="rId20"/>
    <p:sldId id="274" r:id="rId21"/>
    <p:sldId id="275" r:id="rId22"/>
    <p:sldId id="276"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4" d="100"/>
          <a:sy n="114" d="100"/>
        </p:scale>
        <p:origin x="56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2A936F-B171-448A-8C72-C345A369B7DF}"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394688-4CF6-4164-A2AB-DCAEAAF155B3}" type="slidenum">
              <a:rPr lang="en-US" smtClean="0"/>
              <a:t>‹#›</a:t>
            </a:fld>
            <a:endParaRPr lang="en-US"/>
          </a:p>
        </p:txBody>
      </p:sp>
    </p:spTree>
    <p:extLst>
      <p:ext uri="{BB962C8B-B14F-4D97-AF65-F5344CB8AC3E}">
        <p14:creationId xmlns:p14="http://schemas.microsoft.com/office/powerpoint/2010/main" val="3499405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94688-4CF6-4164-A2AB-DCAEAAF155B3}" type="slidenum">
              <a:rPr lang="en-US" smtClean="0"/>
              <a:t>1</a:t>
            </a:fld>
            <a:endParaRPr lang="en-US"/>
          </a:p>
        </p:txBody>
      </p:sp>
    </p:spTree>
    <p:extLst>
      <p:ext uri="{BB962C8B-B14F-4D97-AF65-F5344CB8AC3E}">
        <p14:creationId xmlns:p14="http://schemas.microsoft.com/office/powerpoint/2010/main" val="29215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94688-4CF6-4164-A2AB-DCAEAAF155B3}" type="slidenum">
              <a:rPr lang="en-US" smtClean="0"/>
              <a:t>10</a:t>
            </a:fld>
            <a:endParaRPr lang="en-US"/>
          </a:p>
        </p:txBody>
      </p:sp>
    </p:spTree>
    <p:extLst>
      <p:ext uri="{BB962C8B-B14F-4D97-AF65-F5344CB8AC3E}">
        <p14:creationId xmlns:p14="http://schemas.microsoft.com/office/powerpoint/2010/main" val="3846513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94688-4CF6-4164-A2AB-DCAEAAF155B3}" type="slidenum">
              <a:rPr lang="en-US" smtClean="0"/>
              <a:t>11</a:t>
            </a:fld>
            <a:endParaRPr lang="en-US"/>
          </a:p>
        </p:txBody>
      </p:sp>
    </p:spTree>
    <p:extLst>
      <p:ext uri="{BB962C8B-B14F-4D97-AF65-F5344CB8AC3E}">
        <p14:creationId xmlns:p14="http://schemas.microsoft.com/office/powerpoint/2010/main" val="903442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slide" Target="slide13.xml"/><Relationship Id="rId3" Type="http://schemas.openxmlformats.org/officeDocument/2006/relationships/image" Target="../media/image3.jpg"/><Relationship Id="rId7" Type="http://schemas.openxmlformats.org/officeDocument/2006/relationships/slide" Target="slide11.xml"/><Relationship Id="rId12"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70.png"/><Relationship Id="rId5" Type="http://schemas.openxmlformats.org/officeDocument/2006/relationships/image" Target="../media/image5.jpg"/><Relationship Id="rId10" Type="http://schemas.openxmlformats.org/officeDocument/2006/relationships/slide" Target="slide12.xml"/><Relationship Id="rId4" Type="http://schemas.openxmlformats.org/officeDocument/2006/relationships/image" Target="../media/image4.jpg"/><Relationship Id="rId9" Type="http://schemas.openxmlformats.org/officeDocument/2006/relationships/image" Target="../media/image7.png"/><Relationship Id="rId14" Type="http://schemas.openxmlformats.org/officeDocument/2006/relationships/image" Target="../media/image80.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B70"/>
        </a:solidFill>
        <a:effectLst/>
      </p:bgPr>
    </p:bg>
    <p:spTree>
      <p:nvGrpSpPr>
        <p:cNvPr id="1" name=""/>
        <p:cNvGrpSpPr/>
        <p:nvPr/>
      </p:nvGrpSpPr>
      <p:grpSpPr>
        <a:xfrm>
          <a:off x="0" y="0"/>
          <a:ext cx="0" cy="0"/>
          <a:chOff x="0" y="0"/>
          <a:chExt cx="0" cy="0"/>
        </a:xfrm>
      </p:grpSpPr>
      <p:sp>
        <p:nvSpPr>
          <p:cNvPr id="2" name="Rectangle 1"/>
          <p:cNvSpPr/>
          <p:nvPr/>
        </p:nvSpPr>
        <p:spPr>
          <a:xfrm>
            <a:off x="457200" y="640080"/>
            <a:ext cx="5120640"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640080"/>
            <a:ext cx="164592" cy="2834640"/>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868680"/>
            <a:ext cx="4709160" cy="777240"/>
          </a:xfrm>
          <a:prstGeom prst="rect">
            <a:avLst/>
          </a:prstGeom>
          <a:noFill/>
        </p:spPr>
        <p:txBody>
          <a:bodyPr wrap="square">
            <a:spAutoFit/>
          </a:bodyPr>
          <a:lstStyle/>
          <a:p>
            <a:pPr algn="l"/>
            <a:r>
              <a:rPr sz="3000" b="1" i="0">
                <a:solidFill>
                  <a:srgbClr val="1F3B70"/>
                </a:solidFill>
                <a:latin typeface="Calibri"/>
              </a:rPr>
              <a:t>NOAA Storm Damage</a:t>
            </a:r>
          </a:p>
        </p:txBody>
      </p:sp>
      <p:sp>
        <p:nvSpPr>
          <p:cNvPr id="5" name="TextBox 4"/>
          <p:cNvSpPr txBox="1"/>
          <p:nvPr/>
        </p:nvSpPr>
        <p:spPr>
          <a:xfrm>
            <a:off x="749808" y="1600200"/>
            <a:ext cx="4709160" cy="640080"/>
          </a:xfrm>
          <a:prstGeom prst="rect">
            <a:avLst/>
          </a:prstGeom>
          <a:noFill/>
        </p:spPr>
        <p:txBody>
          <a:bodyPr wrap="square">
            <a:spAutoFit/>
          </a:bodyPr>
          <a:lstStyle/>
          <a:p>
            <a:pPr algn="l"/>
            <a:r>
              <a:rPr sz="3000" b="1" i="0">
                <a:solidFill>
                  <a:srgbClr val="2F5FC0"/>
                </a:solidFill>
                <a:latin typeface="Calibri"/>
              </a:rPr>
              <a:t>Prediction</a:t>
            </a:r>
          </a:p>
        </p:txBody>
      </p:sp>
      <p:sp>
        <p:nvSpPr>
          <p:cNvPr id="6" name="TextBox 5"/>
          <p:cNvSpPr txBox="1"/>
          <p:nvPr/>
        </p:nvSpPr>
        <p:spPr>
          <a:xfrm>
            <a:off x="749808" y="2286000"/>
            <a:ext cx="4663440" cy="276999"/>
          </a:xfrm>
          <a:prstGeom prst="rect">
            <a:avLst/>
          </a:prstGeom>
          <a:noFill/>
        </p:spPr>
        <p:txBody>
          <a:bodyPr wrap="square">
            <a:spAutoFit/>
          </a:bodyPr>
          <a:lstStyle/>
          <a:p>
            <a:pPr algn="l"/>
            <a:r>
              <a:rPr sz="1200" b="0" i="0" dirty="0">
                <a:solidFill>
                  <a:srgbClr val="787C8A"/>
                </a:solidFill>
                <a:latin typeface="Calibri"/>
              </a:rPr>
              <a:t>Two-stage M</a:t>
            </a:r>
            <a:r>
              <a:rPr lang="en-US" sz="1200" b="0" i="0" dirty="0">
                <a:solidFill>
                  <a:srgbClr val="787C8A"/>
                </a:solidFill>
                <a:latin typeface="Calibri"/>
              </a:rPr>
              <a:t>odel</a:t>
            </a:r>
            <a:r>
              <a:rPr sz="1200" b="0" i="0" dirty="0">
                <a:solidFill>
                  <a:srgbClr val="787C8A"/>
                </a:solidFill>
                <a:latin typeface="Calibri"/>
              </a:rPr>
              <a:t> · </a:t>
            </a:r>
            <a:r>
              <a:rPr lang="en-US" sz="1200" b="0" i="0" dirty="0">
                <a:solidFill>
                  <a:srgbClr val="787C8A"/>
                </a:solidFill>
                <a:latin typeface="Calibri"/>
              </a:rPr>
              <a:t>Storm Damage Prediction</a:t>
            </a:r>
            <a:r>
              <a:rPr sz="1200" b="0" i="0" dirty="0">
                <a:solidFill>
                  <a:srgbClr val="787C8A"/>
                </a:solidFill>
                <a:latin typeface="Calibri"/>
              </a:rPr>
              <a:t> · 283K storm events</a:t>
            </a:r>
          </a:p>
        </p:txBody>
      </p:sp>
      <p:sp>
        <p:nvSpPr>
          <p:cNvPr id="7" name="TextBox 6"/>
          <p:cNvSpPr txBox="1"/>
          <p:nvPr/>
        </p:nvSpPr>
        <p:spPr>
          <a:xfrm>
            <a:off x="749808" y="2816352"/>
            <a:ext cx="4663440" cy="553998"/>
          </a:xfrm>
          <a:prstGeom prst="rect">
            <a:avLst/>
          </a:prstGeom>
          <a:noFill/>
        </p:spPr>
        <p:txBody>
          <a:bodyPr wrap="square">
            <a:spAutoFit/>
          </a:bodyPr>
          <a:lstStyle/>
          <a:p>
            <a:pPr algn="l"/>
            <a:r>
              <a:rPr sz="1000" b="0" i="0" dirty="0">
                <a:solidFill>
                  <a:srgbClr val="787C8A"/>
                </a:solidFill>
                <a:latin typeface="Calibri"/>
              </a:rPr>
              <a:t>ISOM 631  ·  Group Project  ·  Suffolk University  ·  April 202</a:t>
            </a:r>
            <a:r>
              <a:rPr lang="en-US" sz="1000" b="0" i="0" dirty="0">
                <a:solidFill>
                  <a:srgbClr val="787C8A"/>
                </a:solidFill>
                <a:latin typeface="Calibri"/>
              </a:rPr>
              <a:t>6</a:t>
            </a:r>
          </a:p>
          <a:p>
            <a:pPr algn="l"/>
            <a:endParaRPr lang="en-US" sz="1000" dirty="0">
              <a:solidFill>
                <a:srgbClr val="787C8A"/>
              </a:solidFill>
              <a:latin typeface="Calibri"/>
            </a:endParaRPr>
          </a:p>
          <a:p>
            <a:pPr algn="l"/>
            <a:r>
              <a:rPr lang="en-US" sz="1000" b="0" i="0" dirty="0">
                <a:solidFill>
                  <a:srgbClr val="787C8A"/>
                </a:solidFill>
                <a:latin typeface="Calibri"/>
              </a:rPr>
              <a:t>Team Members: Shivani, Rebecca Otu, Amna Muqudas</a:t>
            </a:r>
            <a:endParaRPr sz="1000" b="0" i="0" dirty="0">
              <a:solidFill>
                <a:srgbClr val="787C8A"/>
              </a:solidFill>
              <a:latin typeface="Calibri"/>
            </a:endParaRPr>
          </a:p>
        </p:txBody>
      </p:sp>
      <p:sp>
        <p:nvSpPr>
          <p:cNvPr id="8" name="Rectangle 7"/>
          <p:cNvSpPr/>
          <p:nvPr/>
        </p:nvSpPr>
        <p:spPr>
          <a:xfrm>
            <a:off x="457200" y="3657600"/>
            <a:ext cx="2011680" cy="84124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703320"/>
            <a:ext cx="2011680" cy="384048"/>
          </a:xfrm>
          <a:prstGeom prst="rect">
            <a:avLst/>
          </a:prstGeom>
          <a:noFill/>
        </p:spPr>
        <p:txBody>
          <a:bodyPr wrap="square">
            <a:spAutoFit/>
          </a:bodyPr>
          <a:lstStyle/>
          <a:p>
            <a:pPr algn="ctr"/>
            <a:r>
              <a:rPr sz="2200" b="1" i="0">
                <a:solidFill>
                  <a:srgbClr val="F5A023"/>
                </a:solidFill>
                <a:latin typeface="Calibri"/>
              </a:rPr>
              <a:t>283K</a:t>
            </a:r>
          </a:p>
        </p:txBody>
      </p:sp>
      <p:sp>
        <p:nvSpPr>
          <p:cNvPr id="10" name="TextBox 9"/>
          <p:cNvSpPr txBox="1"/>
          <p:nvPr/>
        </p:nvSpPr>
        <p:spPr>
          <a:xfrm>
            <a:off x="457200" y="4114800"/>
            <a:ext cx="2011680" cy="256032"/>
          </a:xfrm>
          <a:prstGeom prst="rect">
            <a:avLst/>
          </a:prstGeom>
          <a:noFill/>
        </p:spPr>
        <p:txBody>
          <a:bodyPr wrap="square">
            <a:spAutoFit/>
          </a:bodyPr>
          <a:lstStyle/>
          <a:p>
            <a:pPr algn="ctr"/>
            <a:r>
              <a:rPr sz="1000" b="0" i="0">
                <a:solidFill>
                  <a:srgbClr val="D6E4F7"/>
                </a:solidFill>
                <a:latin typeface="Calibri"/>
              </a:rPr>
              <a:t>Storm Events</a:t>
            </a:r>
          </a:p>
        </p:txBody>
      </p:sp>
      <p:sp>
        <p:nvSpPr>
          <p:cNvPr id="11" name="Rectangle 10"/>
          <p:cNvSpPr/>
          <p:nvPr/>
        </p:nvSpPr>
        <p:spPr>
          <a:xfrm>
            <a:off x="2606040" y="3657600"/>
            <a:ext cx="2011680" cy="84124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06040" y="3703320"/>
            <a:ext cx="2011680" cy="430887"/>
          </a:xfrm>
          <a:prstGeom prst="rect">
            <a:avLst/>
          </a:prstGeom>
          <a:noFill/>
        </p:spPr>
        <p:txBody>
          <a:bodyPr wrap="square">
            <a:spAutoFit/>
          </a:bodyPr>
          <a:lstStyle/>
          <a:p>
            <a:pPr algn="ctr"/>
            <a:r>
              <a:rPr sz="2200" b="1" i="0" dirty="0">
                <a:solidFill>
                  <a:srgbClr val="F5A023"/>
                </a:solidFill>
                <a:latin typeface="Calibri"/>
              </a:rPr>
              <a:t>92.</a:t>
            </a:r>
            <a:r>
              <a:rPr lang="en-US" sz="2200" b="1" i="0" dirty="0">
                <a:solidFill>
                  <a:srgbClr val="F5A023"/>
                </a:solidFill>
                <a:latin typeface="Calibri"/>
              </a:rPr>
              <a:t>2</a:t>
            </a:r>
            <a:r>
              <a:rPr sz="2200" b="1" i="0" dirty="0">
                <a:solidFill>
                  <a:srgbClr val="F5A023"/>
                </a:solidFill>
                <a:latin typeface="Calibri"/>
              </a:rPr>
              <a:t>%</a:t>
            </a:r>
          </a:p>
        </p:txBody>
      </p:sp>
      <p:sp>
        <p:nvSpPr>
          <p:cNvPr id="13" name="TextBox 12"/>
          <p:cNvSpPr txBox="1"/>
          <p:nvPr/>
        </p:nvSpPr>
        <p:spPr>
          <a:xfrm>
            <a:off x="2606040" y="4114800"/>
            <a:ext cx="2011680" cy="256032"/>
          </a:xfrm>
          <a:prstGeom prst="rect">
            <a:avLst/>
          </a:prstGeom>
          <a:noFill/>
        </p:spPr>
        <p:txBody>
          <a:bodyPr wrap="square">
            <a:spAutoFit/>
          </a:bodyPr>
          <a:lstStyle/>
          <a:p>
            <a:pPr algn="ctr"/>
            <a:r>
              <a:rPr sz="1000" b="0" i="0">
                <a:solidFill>
                  <a:srgbClr val="D6E4F7"/>
                </a:solidFill>
                <a:latin typeface="Calibri"/>
              </a:rPr>
              <a:t>Stage 1 AUC≈0.971</a:t>
            </a:r>
          </a:p>
        </p:txBody>
      </p:sp>
      <p:sp>
        <p:nvSpPr>
          <p:cNvPr id="14" name="Rectangle 13"/>
          <p:cNvSpPr/>
          <p:nvPr/>
        </p:nvSpPr>
        <p:spPr>
          <a:xfrm>
            <a:off x="4754880" y="3657600"/>
            <a:ext cx="2011680" cy="84124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0" y="3703320"/>
            <a:ext cx="2011680" cy="384048"/>
          </a:xfrm>
          <a:prstGeom prst="rect">
            <a:avLst/>
          </a:prstGeom>
          <a:noFill/>
        </p:spPr>
        <p:txBody>
          <a:bodyPr wrap="square">
            <a:spAutoFit/>
          </a:bodyPr>
          <a:lstStyle/>
          <a:p>
            <a:pPr algn="ctr"/>
            <a:r>
              <a:rPr sz="2200" b="1" i="0">
                <a:solidFill>
                  <a:srgbClr val="F5A023"/>
                </a:solidFill>
                <a:latin typeface="Calibri"/>
              </a:rPr>
              <a:t>0.653</a:t>
            </a:r>
          </a:p>
        </p:txBody>
      </p:sp>
      <p:sp>
        <p:nvSpPr>
          <p:cNvPr id="16" name="TextBox 15"/>
          <p:cNvSpPr txBox="1"/>
          <p:nvPr/>
        </p:nvSpPr>
        <p:spPr>
          <a:xfrm>
            <a:off x="4754880" y="4114800"/>
            <a:ext cx="2011680" cy="256032"/>
          </a:xfrm>
          <a:prstGeom prst="rect">
            <a:avLst/>
          </a:prstGeom>
          <a:noFill/>
        </p:spPr>
        <p:txBody>
          <a:bodyPr wrap="square">
            <a:spAutoFit/>
          </a:bodyPr>
          <a:lstStyle/>
          <a:p>
            <a:pPr algn="ctr"/>
            <a:r>
              <a:rPr sz="1000" b="0" i="0">
                <a:solidFill>
                  <a:srgbClr val="D6E4F7"/>
                </a:solidFill>
                <a:latin typeface="Calibri"/>
              </a:rPr>
              <a:t>Stage 2 R²</a:t>
            </a:r>
          </a:p>
        </p:txBody>
      </p:sp>
      <p:sp>
        <p:nvSpPr>
          <p:cNvPr id="17" name="Rectangle 16"/>
          <p:cNvSpPr/>
          <p:nvPr/>
        </p:nvSpPr>
        <p:spPr>
          <a:xfrm>
            <a:off x="6903720" y="3657600"/>
            <a:ext cx="2011680" cy="84124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03720" y="3703320"/>
            <a:ext cx="2011680" cy="384048"/>
          </a:xfrm>
          <a:prstGeom prst="rect">
            <a:avLst/>
          </a:prstGeom>
          <a:noFill/>
        </p:spPr>
        <p:txBody>
          <a:bodyPr wrap="square">
            <a:spAutoFit/>
          </a:bodyPr>
          <a:lstStyle/>
          <a:p>
            <a:pPr algn="ctr"/>
            <a:r>
              <a:rPr sz="2200" b="1" i="0">
                <a:solidFill>
                  <a:srgbClr val="F5A023"/>
                </a:solidFill>
                <a:latin typeface="Calibri"/>
              </a:rPr>
              <a:t>2-Stage</a:t>
            </a:r>
          </a:p>
        </p:txBody>
      </p:sp>
      <p:sp>
        <p:nvSpPr>
          <p:cNvPr id="19" name="TextBox 18"/>
          <p:cNvSpPr txBox="1"/>
          <p:nvPr/>
        </p:nvSpPr>
        <p:spPr>
          <a:xfrm>
            <a:off x="6903720" y="4114800"/>
            <a:ext cx="2011680" cy="256032"/>
          </a:xfrm>
          <a:prstGeom prst="rect">
            <a:avLst/>
          </a:prstGeom>
          <a:noFill/>
        </p:spPr>
        <p:txBody>
          <a:bodyPr wrap="square">
            <a:spAutoFit/>
          </a:bodyPr>
          <a:lstStyle/>
          <a:p>
            <a:pPr algn="ctr"/>
            <a:r>
              <a:rPr sz="1000" b="0" i="0" dirty="0">
                <a:solidFill>
                  <a:srgbClr val="D6E4F7"/>
                </a:solidFill>
                <a:latin typeface="Calibri"/>
              </a:rPr>
              <a:t>M</a:t>
            </a:r>
            <a:r>
              <a:rPr lang="en-US" sz="1000" b="0" i="0" dirty="0">
                <a:solidFill>
                  <a:srgbClr val="D6E4F7"/>
                </a:solidFill>
                <a:latin typeface="Calibri"/>
              </a:rPr>
              <a:t>odel </a:t>
            </a:r>
            <a:r>
              <a:rPr sz="1000" b="0" i="0" dirty="0">
                <a:solidFill>
                  <a:srgbClr val="D6E4F7"/>
                </a:solidFill>
                <a:latin typeface="Calibri"/>
              </a:rPr>
              <a:t>Architecture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28016"/>
            <a:ext cx="8412480" cy="402336"/>
          </a:xfrm>
          <a:prstGeom prst="rect">
            <a:avLst/>
          </a:prstGeom>
          <a:noFill/>
        </p:spPr>
        <p:txBody>
          <a:bodyPr wrap="square">
            <a:spAutoFit/>
          </a:bodyPr>
          <a:lstStyle/>
          <a:p>
            <a:pPr algn="ctr"/>
            <a:r>
              <a:rPr sz="2200" b="1" i="0">
                <a:solidFill>
                  <a:srgbClr val="FFFFFF"/>
                </a:solidFill>
                <a:latin typeface="Calibri"/>
              </a:rPr>
              <a:t>CONTENTS</a:t>
            </a:r>
          </a:p>
        </p:txBody>
      </p:sp>
      <p:sp>
        <p:nvSpPr>
          <p:cNvPr id="4" name="Rectangle 3"/>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April 202</a:t>
            </a:r>
            <a:r>
              <a:rPr lang="en-US" sz="800" b="0" i="0" dirty="0">
                <a:solidFill>
                  <a:srgbClr val="D6E4F7"/>
                </a:solidFill>
                <a:latin typeface="Calibri"/>
              </a:rPr>
              <a:t>6</a:t>
            </a:r>
            <a:endParaRPr sz="800" b="0" i="0" dirty="0">
              <a:solidFill>
                <a:srgbClr val="D6E4F7"/>
              </a:solidFill>
              <a:latin typeface="Calibri"/>
            </a:endParaRPr>
          </a:p>
        </p:txBody>
      </p:sp>
      <p:sp>
        <p:nvSpPr>
          <p:cNvPr id="6" name="Rectangle 5"/>
          <p:cNvSpPr/>
          <p:nvPr/>
        </p:nvSpPr>
        <p:spPr>
          <a:xfrm>
            <a:off x="365760" y="91440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sz="900" dirty="0">
              <a:solidFill>
                <a:schemeClr val="bg1">
                  <a:lumMod val="50000"/>
                </a:schemeClr>
              </a:solidFill>
            </a:endParaRPr>
          </a:p>
        </p:txBody>
      </p:sp>
      <p:sp>
        <p:nvSpPr>
          <p:cNvPr id="7" name="Rectangle 6"/>
          <p:cNvSpPr/>
          <p:nvPr/>
        </p:nvSpPr>
        <p:spPr>
          <a:xfrm>
            <a:off x="365760" y="91440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15568"/>
            <a:ext cx="475488" cy="457200"/>
          </a:xfrm>
          <a:prstGeom prst="rect">
            <a:avLst/>
          </a:prstGeom>
          <a:noFill/>
        </p:spPr>
        <p:txBody>
          <a:bodyPr wrap="square">
            <a:spAutoFit/>
          </a:bodyPr>
          <a:lstStyle/>
          <a:p>
            <a:pPr algn="ctr"/>
            <a:r>
              <a:rPr sz="1700" b="1" i="0">
                <a:solidFill>
                  <a:srgbClr val="F5A023"/>
                </a:solidFill>
                <a:latin typeface="Calibri"/>
              </a:rPr>
              <a:t>01</a:t>
            </a:r>
          </a:p>
        </p:txBody>
      </p:sp>
      <p:sp>
        <p:nvSpPr>
          <p:cNvPr id="9" name="TextBox 8"/>
          <p:cNvSpPr txBox="1"/>
          <p:nvPr/>
        </p:nvSpPr>
        <p:spPr>
          <a:xfrm>
            <a:off x="932688" y="987552"/>
            <a:ext cx="3520440" cy="329184"/>
          </a:xfrm>
          <a:prstGeom prst="rect">
            <a:avLst/>
          </a:prstGeom>
          <a:noFill/>
        </p:spPr>
        <p:txBody>
          <a:bodyPr wrap="square">
            <a:spAutoFit/>
          </a:bodyPr>
          <a:lstStyle/>
          <a:p>
            <a:pPr algn="l"/>
            <a:r>
              <a:rPr sz="1300" b="1" i="0">
                <a:solidFill>
                  <a:srgbClr val="1F3B70"/>
                </a:solidFill>
                <a:latin typeface="Calibri"/>
              </a:rPr>
              <a:t>Background &amp; Problem</a:t>
            </a:r>
          </a:p>
        </p:txBody>
      </p:sp>
      <p:sp>
        <p:nvSpPr>
          <p:cNvPr id="11" name="Rectangle 10"/>
          <p:cNvSpPr/>
          <p:nvPr/>
        </p:nvSpPr>
        <p:spPr>
          <a:xfrm>
            <a:off x="4846320" y="91440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846320" y="91440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1115568"/>
            <a:ext cx="475488" cy="457200"/>
          </a:xfrm>
          <a:prstGeom prst="rect">
            <a:avLst/>
          </a:prstGeom>
          <a:noFill/>
        </p:spPr>
        <p:txBody>
          <a:bodyPr wrap="square">
            <a:spAutoFit/>
          </a:bodyPr>
          <a:lstStyle/>
          <a:p>
            <a:pPr algn="ctr"/>
            <a:r>
              <a:rPr sz="1700" b="1" i="0">
                <a:solidFill>
                  <a:srgbClr val="F5A023"/>
                </a:solidFill>
                <a:latin typeface="Calibri"/>
              </a:rPr>
              <a:t>02</a:t>
            </a:r>
          </a:p>
        </p:txBody>
      </p:sp>
      <p:sp>
        <p:nvSpPr>
          <p:cNvPr id="14" name="TextBox 13"/>
          <p:cNvSpPr txBox="1"/>
          <p:nvPr/>
        </p:nvSpPr>
        <p:spPr>
          <a:xfrm>
            <a:off x="5413248" y="987552"/>
            <a:ext cx="3520440" cy="329184"/>
          </a:xfrm>
          <a:prstGeom prst="rect">
            <a:avLst/>
          </a:prstGeom>
          <a:noFill/>
        </p:spPr>
        <p:txBody>
          <a:bodyPr wrap="square">
            <a:spAutoFit/>
          </a:bodyPr>
          <a:lstStyle/>
          <a:p>
            <a:pPr algn="l"/>
            <a:r>
              <a:rPr sz="1300" b="1" i="0">
                <a:solidFill>
                  <a:srgbClr val="1F3B70"/>
                </a:solidFill>
                <a:latin typeface="Calibri"/>
              </a:rPr>
              <a:t>Data &amp; Research Question</a:t>
            </a:r>
          </a:p>
        </p:txBody>
      </p:sp>
      <p:sp>
        <p:nvSpPr>
          <p:cNvPr id="15" name="TextBox 14"/>
          <p:cNvSpPr txBox="1"/>
          <p:nvPr/>
        </p:nvSpPr>
        <p:spPr>
          <a:xfrm>
            <a:off x="5321808" y="1262539"/>
            <a:ext cx="3520440" cy="400110"/>
          </a:xfrm>
          <a:prstGeom prst="rect">
            <a:avLst/>
          </a:prstGeom>
          <a:noFill/>
        </p:spPr>
        <p:txBody>
          <a:bodyPr wrap="square">
            <a:spAutoFit/>
          </a:bodyPr>
          <a:lstStyle/>
          <a:p>
            <a:r>
              <a:rPr lang="en-US" sz="1000" b="0" i="0" dirty="0">
                <a:solidFill>
                  <a:schemeClr val="tx1">
                    <a:lumMod val="50000"/>
                    <a:lumOff val="50000"/>
                  </a:schemeClr>
                </a:solidFill>
                <a:latin typeface="Calibri"/>
              </a:rPr>
              <a:t>NOAA · 283K events</a:t>
            </a:r>
            <a:r>
              <a:rPr lang="en-US" sz="1000" dirty="0">
                <a:solidFill>
                  <a:schemeClr val="tx1">
                    <a:lumMod val="50000"/>
                    <a:lumOff val="50000"/>
                  </a:schemeClr>
                </a:solidFill>
                <a:latin typeface="Calibri"/>
              </a:rPr>
              <a:t>: </a:t>
            </a:r>
            <a:r>
              <a:rPr lang="en-US" sz="1000" dirty="0">
                <a:solidFill>
                  <a:schemeClr val="tx1">
                    <a:lumMod val="50000"/>
                    <a:lumOff val="50000"/>
                  </a:schemeClr>
                </a:solidFill>
              </a:rPr>
              <a:t>Which characteristics of storms drive damage?</a:t>
            </a:r>
            <a:r>
              <a:rPr lang="en-US" sz="1000" b="0" i="0" dirty="0">
                <a:solidFill>
                  <a:schemeClr val="tx1">
                    <a:lumMod val="50000"/>
                    <a:lumOff val="50000"/>
                  </a:schemeClr>
                </a:solidFill>
                <a:latin typeface="Calibri"/>
              </a:rPr>
              <a:t> </a:t>
            </a:r>
            <a:r>
              <a:rPr lang="en-US" sz="1000" dirty="0">
                <a:solidFill>
                  <a:schemeClr val="tx1">
                    <a:lumMod val="50000"/>
                    <a:lumOff val="50000"/>
                  </a:schemeClr>
                </a:solidFill>
              </a:rPr>
              <a:t>How many dollars of damage?</a:t>
            </a:r>
            <a:endParaRPr lang="en-US" sz="1000" b="0" i="0" dirty="0">
              <a:solidFill>
                <a:schemeClr val="tx1">
                  <a:lumMod val="50000"/>
                  <a:lumOff val="50000"/>
                </a:schemeClr>
              </a:solidFill>
              <a:latin typeface="Calibri"/>
            </a:endParaRPr>
          </a:p>
        </p:txBody>
      </p:sp>
      <p:sp>
        <p:nvSpPr>
          <p:cNvPr id="16" name="Rectangle 15"/>
          <p:cNvSpPr/>
          <p:nvPr/>
        </p:nvSpPr>
        <p:spPr>
          <a:xfrm>
            <a:off x="365760" y="201168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201168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212848"/>
            <a:ext cx="475488" cy="457200"/>
          </a:xfrm>
          <a:prstGeom prst="rect">
            <a:avLst/>
          </a:prstGeom>
          <a:noFill/>
        </p:spPr>
        <p:txBody>
          <a:bodyPr wrap="square">
            <a:spAutoFit/>
          </a:bodyPr>
          <a:lstStyle/>
          <a:p>
            <a:pPr algn="ctr"/>
            <a:r>
              <a:rPr sz="1700" b="1" i="0">
                <a:solidFill>
                  <a:srgbClr val="F5A023"/>
                </a:solidFill>
                <a:latin typeface="Calibri"/>
              </a:rPr>
              <a:t>03</a:t>
            </a:r>
          </a:p>
        </p:txBody>
      </p:sp>
      <p:sp>
        <p:nvSpPr>
          <p:cNvPr id="19" name="TextBox 18"/>
          <p:cNvSpPr txBox="1"/>
          <p:nvPr/>
        </p:nvSpPr>
        <p:spPr>
          <a:xfrm>
            <a:off x="932688" y="2084832"/>
            <a:ext cx="3520440" cy="329184"/>
          </a:xfrm>
          <a:prstGeom prst="rect">
            <a:avLst/>
          </a:prstGeom>
          <a:noFill/>
        </p:spPr>
        <p:txBody>
          <a:bodyPr wrap="square">
            <a:spAutoFit/>
          </a:bodyPr>
          <a:lstStyle/>
          <a:p>
            <a:pPr algn="l"/>
            <a:r>
              <a:rPr sz="1300" b="1" i="0" dirty="0">
                <a:solidFill>
                  <a:srgbClr val="1F3B70"/>
                </a:solidFill>
                <a:latin typeface="Calibri"/>
              </a:rPr>
              <a:t>Exploratory Data Analysis</a:t>
            </a:r>
          </a:p>
        </p:txBody>
      </p:sp>
      <p:sp>
        <p:nvSpPr>
          <p:cNvPr id="20" name="TextBox 19"/>
          <p:cNvSpPr txBox="1"/>
          <p:nvPr/>
        </p:nvSpPr>
        <p:spPr>
          <a:xfrm>
            <a:off x="932688" y="2487168"/>
            <a:ext cx="3520440" cy="246221"/>
          </a:xfrm>
          <a:prstGeom prst="rect">
            <a:avLst/>
          </a:prstGeom>
          <a:noFill/>
        </p:spPr>
        <p:txBody>
          <a:bodyPr wrap="square">
            <a:spAutoFit/>
          </a:bodyPr>
          <a:lstStyle/>
          <a:p>
            <a:pPr algn="l"/>
            <a:r>
              <a:rPr lang="en-US" sz="1000" b="0" i="0" dirty="0">
                <a:solidFill>
                  <a:schemeClr val="tx1">
                    <a:lumMod val="50000"/>
                    <a:lumOff val="50000"/>
                  </a:schemeClr>
                </a:solidFill>
                <a:latin typeface="Calibri"/>
              </a:rPr>
              <a:t>Patterns · Seasonality · Maps</a:t>
            </a:r>
          </a:p>
        </p:txBody>
      </p:sp>
      <p:sp>
        <p:nvSpPr>
          <p:cNvPr id="21" name="Rectangle 20"/>
          <p:cNvSpPr/>
          <p:nvPr/>
        </p:nvSpPr>
        <p:spPr>
          <a:xfrm>
            <a:off x="4846320" y="201168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846320" y="201168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20" y="2212848"/>
            <a:ext cx="475488" cy="457200"/>
          </a:xfrm>
          <a:prstGeom prst="rect">
            <a:avLst/>
          </a:prstGeom>
          <a:noFill/>
        </p:spPr>
        <p:txBody>
          <a:bodyPr wrap="square">
            <a:spAutoFit/>
          </a:bodyPr>
          <a:lstStyle/>
          <a:p>
            <a:pPr algn="ctr"/>
            <a:r>
              <a:rPr sz="1700" b="1" i="0">
                <a:solidFill>
                  <a:srgbClr val="F5A023"/>
                </a:solidFill>
                <a:latin typeface="Calibri"/>
              </a:rPr>
              <a:t>04</a:t>
            </a:r>
          </a:p>
        </p:txBody>
      </p:sp>
      <p:sp>
        <p:nvSpPr>
          <p:cNvPr id="24" name="TextBox 23"/>
          <p:cNvSpPr txBox="1"/>
          <p:nvPr/>
        </p:nvSpPr>
        <p:spPr>
          <a:xfrm>
            <a:off x="5413248" y="2084832"/>
            <a:ext cx="3520440" cy="329184"/>
          </a:xfrm>
          <a:prstGeom prst="rect">
            <a:avLst/>
          </a:prstGeom>
          <a:noFill/>
        </p:spPr>
        <p:txBody>
          <a:bodyPr wrap="square">
            <a:spAutoFit/>
          </a:bodyPr>
          <a:lstStyle/>
          <a:p>
            <a:pPr algn="l"/>
            <a:r>
              <a:rPr sz="1300" b="1" i="0">
                <a:solidFill>
                  <a:srgbClr val="1F3B70"/>
                </a:solidFill>
                <a:latin typeface="Calibri"/>
              </a:rPr>
              <a:t>Two-Stage Model</a:t>
            </a:r>
          </a:p>
        </p:txBody>
      </p:sp>
      <p:sp>
        <p:nvSpPr>
          <p:cNvPr id="25" name="TextBox 24"/>
          <p:cNvSpPr txBox="1"/>
          <p:nvPr/>
        </p:nvSpPr>
        <p:spPr>
          <a:xfrm>
            <a:off x="5413248" y="2487168"/>
            <a:ext cx="3520440" cy="246221"/>
          </a:xfrm>
          <a:prstGeom prst="rect">
            <a:avLst/>
          </a:prstGeom>
          <a:noFill/>
        </p:spPr>
        <p:txBody>
          <a:bodyPr wrap="square">
            <a:spAutoFit/>
          </a:bodyPr>
          <a:lstStyle/>
          <a:p>
            <a:pPr algn="l"/>
            <a:r>
              <a:rPr lang="en-US" sz="1000" b="0" i="0" dirty="0">
                <a:solidFill>
                  <a:schemeClr val="tx1">
                    <a:lumMod val="50000"/>
                    <a:lumOff val="50000"/>
                  </a:schemeClr>
                </a:solidFill>
                <a:latin typeface="Calibri"/>
              </a:rPr>
              <a:t>Why two stages · Feature </a:t>
            </a:r>
            <a:r>
              <a:rPr lang="en-US" sz="1000" dirty="0">
                <a:solidFill>
                  <a:schemeClr val="tx1">
                    <a:lumMod val="50000"/>
                    <a:lumOff val="50000"/>
                  </a:schemeClr>
                </a:solidFill>
                <a:latin typeface="Calibri"/>
              </a:rPr>
              <a:t>E</a:t>
            </a:r>
            <a:r>
              <a:rPr lang="en-US" sz="1000" b="0" i="0" dirty="0">
                <a:solidFill>
                  <a:schemeClr val="tx1">
                    <a:lumMod val="50000"/>
                    <a:lumOff val="50000"/>
                  </a:schemeClr>
                </a:solidFill>
                <a:latin typeface="Calibri"/>
              </a:rPr>
              <a:t>ngineering</a:t>
            </a:r>
          </a:p>
        </p:txBody>
      </p:sp>
      <p:sp>
        <p:nvSpPr>
          <p:cNvPr id="26" name="Rectangle 25"/>
          <p:cNvSpPr/>
          <p:nvPr/>
        </p:nvSpPr>
        <p:spPr>
          <a:xfrm>
            <a:off x="365760" y="310896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310896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3310128"/>
            <a:ext cx="475488" cy="457200"/>
          </a:xfrm>
          <a:prstGeom prst="rect">
            <a:avLst/>
          </a:prstGeom>
          <a:noFill/>
        </p:spPr>
        <p:txBody>
          <a:bodyPr wrap="square">
            <a:spAutoFit/>
          </a:bodyPr>
          <a:lstStyle/>
          <a:p>
            <a:pPr algn="ctr"/>
            <a:r>
              <a:rPr sz="1700" b="1" i="0">
                <a:solidFill>
                  <a:srgbClr val="F5A023"/>
                </a:solidFill>
                <a:latin typeface="Calibri"/>
              </a:rPr>
              <a:t>05</a:t>
            </a:r>
          </a:p>
        </p:txBody>
      </p:sp>
      <p:sp>
        <p:nvSpPr>
          <p:cNvPr id="29" name="TextBox 28"/>
          <p:cNvSpPr txBox="1"/>
          <p:nvPr/>
        </p:nvSpPr>
        <p:spPr>
          <a:xfrm>
            <a:off x="932688" y="3182112"/>
            <a:ext cx="3520440" cy="329184"/>
          </a:xfrm>
          <a:prstGeom prst="rect">
            <a:avLst/>
          </a:prstGeom>
          <a:noFill/>
        </p:spPr>
        <p:txBody>
          <a:bodyPr wrap="square">
            <a:spAutoFit/>
          </a:bodyPr>
          <a:lstStyle/>
          <a:p>
            <a:pPr algn="l"/>
            <a:r>
              <a:rPr sz="1300" b="1" i="0">
                <a:solidFill>
                  <a:srgbClr val="1F3B70"/>
                </a:solidFill>
                <a:latin typeface="Calibri"/>
              </a:rPr>
              <a:t>Results &amp; Findings</a:t>
            </a:r>
          </a:p>
        </p:txBody>
      </p:sp>
      <p:sp>
        <p:nvSpPr>
          <p:cNvPr id="30" name="TextBox 29"/>
          <p:cNvSpPr txBox="1"/>
          <p:nvPr/>
        </p:nvSpPr>
        <p:spPr>
          <a:xfrm>
            <a:off x="932688" y="3584448"/>
            <a:ext cx="3520440" cy="246221"/>
          </a:xfrm>
          <a:prstGeom prst="rect">
            <a:avLst/>
          </a:prstGeom>
          <a:noFill/>
        </p:spPr>
        <p:txBody>
          <a:bodyPr wrap="square">
            <a:spAutoFit/>
          </a:bodyPr>
          <a:lstStyle/>
          <a:p>
            <a:pPr algn="l"/>
            <a:r>
              <a:rPr lang="en-US" sz="1000" b="0" i="0" dirty="0">
                <a:solidFill>
                  <a:schemeClr val="tx1">
                    <a:lumMod val="50000"/>
                    <a:lumOff val="50000"/>
                  </a:schemeClr>
                </a:solidFill>
                <a:latin typeface="Calibri"/>
              </a:rPr>
              <a:t>Stage 1 · Stage 2 · Feature importance</a:t>
            </a:r>
          </a:p>
        </p:txBody>
      </p:sp>
      <p:sp>
        <p:nvSpPr>
          <p:cNvPr id="31" name="Rectangle 30"/>
          <p:cNvSpPr/>
          <p:nvPr/>
        </p:nvSpPr>
        <p:spPr>
          <a:xfrm>
            <a:off x="4846320" y="3108960"/>
            <a:ext cx="4206240" cy="868680"/>
          </a:xfrm>
          <a:prstGeom prst="rect">
            <a:avLst/>
          </a:prstGeom>
          <a:solidFill>
            <a:srgbClr val="EBF2FF"/>
          </a:solidFill>
          <a:ln w="1016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846320" y="3108960"/>
            <a:ext cx="475488" cy="8686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46320" y="3310128"/>
            <a:ext cx="475488" cy="457200"/>
          </a:xfrm>
          <a:prstGeom prst="rect">
            <a:avLst/>
          </a:prstGeom>
          <a:noFill/>
        </p:spPr>
        <p:txBody>
          <a:bodyPr wrap="square">
            <a:spAutoFit/>
          </a:bodyPr>
          <a:lstStyle/>
          <a:p>
            <a:pPr algn="ctr"/>
            <a:r>
              <a:rPr sz="1700" b="1" i="0">
                <a:solidFill>
                  <a:srgbClr val="F5A023"/>
                </a:solidFill>
                <a:latin typeface="Calibri"/>
              </a:rPr>
              <a:t>06</a:t>
            </a:r>
          </a:p>
        </p:txBody>
      </p:sp>
      <p:sp>
        <p:nvSpPr>
          <p:cNvPr id="34" name="TextBox 33"/>
          <p:cNvSpPr txBox="1"/>
          <p:nvPr/>
        </p:nvSpPr>
        <p:spPr>
          <a:xfrm>
            <a:off x="5413248" y="3182112"/>
            <a:ext cx="3520440" cy="329184"/>
          </a:xfrm>
          <a:prstGeom prst="rect">
            <a:avLst/>
          </a:prstGeom>
          <a:noFill/>
        </p:spPr>
        <p:txBody>
          <a:bodyPr wrap="square">
            <a:spAutoFit/>
          </a:bodyPr>
          <a:lstStyle/>
          <a:p>
            <a:pPr algn="l"/>
            <a:r>
              <a:rPr sz="1300" b="1" i="0">
                <a:solidFill>
                  <a:srgbClr val="1F3B70"/>
                </a:solidFill>
                <a:latin typeface="Calibri"/>
              </a:rPr>
              <a:t>Business Application</a:t>
            </a:r>
          </a:p>
        </p:txBody>
      </p:sp>
      <p:sp>
        <p:nvSpPr>
          <p:cNvPr id="35" name="TextBox 34"/>
          <p:cNvSpPr txBox="1"/>
          <p:nvPr/>
        </p:nvSpPr>
        <p:spPr>
          <a:xfrm>
            <a:off x="5413248" y="3584448"/>
            <a:ext cx="3520440" cy="246221"/>
          </a:xfrm>
          <a:prstGeom prst="rect">
            <a:avLst/>
          </a:prstGeom>
          <a:noFill/>
        </p:spPr>
        <p:txBody>
          <a:bodyPr wrap="square">
            <a:spAutoFit/>
          </a:bodyPr>
          <a:lstStyle/>
          <a:p>
            <a:pPr algn="l"/>
            <a:r>
              <a:rPr lang="en-US" sz="1000" b="0" i="0" dirty="0">
                <a:solidFill>
                  <a:schemeClr val="tx1">
                    <a:lumMod val="50000"/>
                    <a:lumOff val="50000"/>
                  </a:schemeClr>
                </a:solidFill>
                <a:latin typeface="Calibri"/>
              </a:rPr>
              <a:t>Recommendations </a:t>
            </a:r>
          </a:p>
        </p:txBody>
      </p:sp>
      <p:sp>
        <p:nvSpPr>
          <p:cNvPr id="36" name="TextBox 35">
            <a:extLst>
              <a:ext uri="{FF2B5EF4-FFF2-40B4-BE49-F238E27FC236}">
                <a16:creationId xmlns:a16="http://schemas.microsoft.com/office/drawing/2014/main" id="{79B58AF3-4D69-B087-4F27-4CE3ACB459CD}"/>
              </a:ext>
            </a:extLst>
          </p:cNvPr>
          <p:cNvSpPr txBox="1"/>
          <p:nvPr/>
        </p:nvSpPr>
        <p:spPr>
          <a:xfrm>
            <a:off x="932688" y="1276255"/>
            <a:ext cx="3520440" cy="246221"/>
          </a:xfrm>
          <a:prstGeom prst="rect">
            <a:avLst/>
          </a:prstGeom>
          <a:noFill/>
        </p:spPr>
        <p:txBody>
          <a:bodyPr wrap="square">
            <a:spAutoFit/>
          </a:bodyPr>
          <a:lstStyle/>
          <a:p>
            <a:r>
              <a:rPr lang="en-US" sz="1000" dirty="0">
                <a:solidFill>
                  <a:schemeClr val="tx1">
                    <a:lumMod val="50000"/>
                    <a:lumOff val="50000"/>
                  </a:schemeClr>
                </a:solidFill>
              </a:rPr>
              <a:t>Problem · Data </a:t>
            </a:r>
            <a:r>
              <a:rPr lang="en-US" sz="1000" dirty="0">
                <a:solidFill>
                  <a:schemeClr val="tx1">
                    <a:lumMod val="50000"/>
                    <a:lumOff val="50000"/>
                  </a:schemeClr>
                </a:solidFill>
                <a:latin typeface="Calibri"/>
              </a:rPr>
              <a:t>· Two </a:t>
            </a:r>
            <a:r>
              <a:rPr lang="en-US" sz="1000" dirty="0">
                <a:solidFill>
                  <a:schemeClr val="tx1">
                    <a:lumMod val="50000"/>
                    <a:lumOff val="50000"/>
                  </a:schemeClr>
                </a:solidFill>
              </a:rPr>
              <a:t>Questions</a:t>
            </a:r>
            <a:endParaRPr lang="en-US" sz="1000" b="0" i="0" dirty="0">
              <a:solidFill>
                <a:schemeClr val="tx1">
                  <a:lumMod val="50000"/>
                  <a:lumOff val="50000"/>
                </a:schemeClr>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tx1">
                    <a:lumMod val="65000"/>
                    <a:lumOff val="35000"/>
                  </a:schemeClr>
                </a:solidFill>
                <a:latin typeface="Calibri"/>
              </a:rPr>
              <a:t>01</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dirty="0">
                <a:solidFill>
                  <a:srgbClr val="1F3B70"/>
                </a:solidFill>
                <a:latin typeface="Calibri"/>
              </a:rPr>
              <a:t>Background &amp; Problem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01</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The Business Problem</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April 202</a:t>
            </a:r>
            <a:r>
              <a:rPr lang="en-US" sz="800" b="0" i="0" dirty="0">
                <a:solidFill>
                  <a:srgbClr val="D6E4F7"/>
                </a:solidFill>
                <a:latin typeface="Calibri"/>
              </a:rPr>
              <a:t>6</a:t>
            </a:r>
            <a:endParaRPr sz="800" b="0" i="0" dirty="0">
              <a:solidFill>
                <a:srgbClr val="D6E4F7"/>
              </a:solidFill>
              <a:latin typeface="Calibri"/>
            </a:endParaRPr>
          </a:p>
        </p:txBody>
      </p:sp>
      <p:sp>
        <p:nvSpPr>
          <p:cNvPr id="8" name="Rectangle 7"/>
          <p:cNvSpPr/>
          <p:nvPr/>
        </p:nvSpPr>
        <p:spPr>
          <a:xfrm>
            <a:off x="365760" y="804672"/>
            <a:ext cx="5029200" cy="1152144"/>
          </a:xfrm>
          <a:prstGeom prst="rect">
            <a:avLst/>
          </a:prstGeom>
          <a:solidFill>
            <a:srgbClr val="EBF2FF"/>
          </a:solidFill>
          <a:ln w="12700">
            <a:solidFill>
              <a:srgbClr val="F5A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804672"/>
            <a:ext cx="109728" cy="11521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896112"/>
            <a:ext cx="4572000" cy="338554"/>
          </a:xfrm>
          <a:prstGeom prst="rect">
            <a:avLst/>
          </a:prstGeom>
          <a:noFill/>
        </p:spPr>
        <p:txBody>
          <a:bodyPr wrap="square">
            <a:spAutoFit/>
          </a:bodyPr>
          <a:lstStyle/>
          <a:p>
            <a:r>
              <a:rPr lang="en-US" sz="1600" dirty="0"/>
              <a:t>The Problem</a:t>
            </a:r>
            <a:endParaRPr sz="1600" b="1" i="0" dirty="0">
              <a:solidFill>
                <a:srgbClr val="F5A023"/>
              </a:solidFill>
              <a:latin typeface="Calibri"/>
            </a:endParaRPr>
          </a:p>
        </p:txBody>
      </p:sp>
      <p:sp>
        <p:nvSpPr>
          <p:cNvPr id="11" name="TextBox 10"/>
          <p:cNvSpPr txBox="1"/>
          <p:nvPr/>
        </p:nvSpPr>
        <p:spPr>
          <a:xfrm>
            <a:off x="594360" y="1261872"/>
            <a:ext cx="4572000" cy="600164"/>
          </a:xfrm>
          <a:prstGeom prst="rect">
            <a:avLst/>
          </a:prstGeom>
          <a:noFill/>
        </p:spPr>
        <p:txBody>
          <a:bodyPr wrap="square">
            <a:spAutoFit/>
          </a:bodyPr>
          <a:lstStyle/>
          <a:p>
            <a:r>
              <a:rPr lang="en-US" sz="1100" i="1" dirty="0">
                <a:solidFill>
                  <a:schemeClr val="tx1">
                    <a:lumMod val="65000"/>
                    <a:lumOff val="35000"/>
                  </a:schemeClr>
                </a:solidFill>
              </a:rPr>
              <a:t>When a storm hits, insurers have no immediate way to know which areas were damaged, how much it will cost, or whether losses are clustering in one region, until field adjusters physically visit locations days later.</a:t>
            </a:r>
            <a:endParaRPr sz="1100" b="0" i="1" dirty="0">
              <a:solidFill>
                <a:schemeClr val="tx1">
                  <a:lumMod val="65000"/>
                  <a:lumOff val="35000"/>
                </a:schemeClr>
              </a:solidFill>
              <a:latin typeface="Calibri"/>
            </a:endParaRPr>
          </a:p>
        </p:txBody>
      </p:sp>
      <p:sp>
        <p:nvSpPr>
          <p:cNvPr id="12" name="Rectangle 11"/>
          <p:cNvSpPr/>
          <p:nvPr/>
        </p:nvSpPr>
        <p:spPr>
          <a:xfrm>
            <a:off x="365760" y="2103120"/>
            <a:ext cx="5029200" cy="1152144"/>
          </a:xfrm>
          <a:prstGeom prst="rect">
            <a:avLst/>
          </a:prstGeom>
          <a:solidFill>
            <a:srgbClr val="EBF2FF"/>
          </a:solidFill>
          <a:ln w="1270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103120"/>
            <a:ext cx="109728" cy="11521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194560"/>
            <a:ext cx="4572000" cy="338554"/>
          </a:xfrm>
          <a:prstGeom prst="rect">
            <a:avLst/>
          </a:prstGeom>
          <a:noFill/>
        </p:spPr>
        <p:txBody>
          <a:bodyPr wrap="square">
            <a:spAutoFit/>
          </a:bodyPr>
          <a:lstStyle/>
          <a:p>
            <a:r>
              <a:rPr lang="en-US" sz="1600" dirty="0"/>
              <a:t>The Data</a:t>
            </a:r>
            <a:endParaRPr sz="1600" b="1" i="0" dirty="0">
              <a:solidFill>
                <a:srgbClr val="2F5FC0"/>
              </a:solidFill>
              <a:latin typeface="Calibri"/>
            </a:endParaRPr>
          </a:p>
        </p:txBody>
      </p:sp>
      <p:sp>
        <p:nvSpPr>
          <p:cNvPr id="15" name="TextBox 14"/>
          <p:cNvSpPr txBox="1"/>
          <p:nvPr/>
        </p:nvSpPr>
        <p:spPr>
          <a:xfrm>
            <a:off x="594360" y="2550057"/>
            <a:ext cx="4572000" cy="430887"/>
          </a:xfrm>
          <a:prstGeom prst="rect">
            <a:avLst/>
          </a:prstGeom>
          <a:noFill/>
        </p:spPr>
        <p:txBody>
          <a:bodyPr wrap="square">
            <a:spAutoFit/>
          </a:bodyPr>
          <a:lstStyle/>
          <a:p>
            <a:r>
              <a:rPr lang="en-US" sz="1100" i="1" dirty="0">
                <a:solidFill>
                  <a:schemeClr val="tx1">
                    <a:lumMod val="65000"/>
                    <a:lumOff val="35000"/>
                  </a:schemeClr>
                </a:solidFill>
              </a:rPr>
              <a:t>We analyzed 283,155 </a:t>
            </a:r>
            <a:r>
              <a:rPr lang="en-US" sz="1100" i="1" dirty="0">
                <a:solidFill>
                  <a:schemeClr val="tx1">
                    <a:lumMod val="65000"/>
                    <a:lumOff val="35000"/>
                  </a:schemeClr>
                </a:solidFill>
                <a:latin typeface="Calibri"/>
              </a:rPr>
              <a:t>storm</a:t>
            </a:r>
            <a:r>
              <a:rPr lang="en-US" sz="1100" i="1" dirty="0">
                <a:solidFill>
                  <a:schemeClr val="tx1">
                    <a:lumMod val="65000"/>
                    <a:lumOff val="35000"/>
                  </a:schemeClr>
                </a:solidFill>
              </a:rPr>
              <a:t> events across 7 years of NOAA records covering every US state : the official federal record of all significant weather events.</a:t>
            </a:r>
            <a:endParaRPr sz="1100" b="0" i="1" dirty="0">
              <a:solidFill>
                <a:schemeClr val="tx1">
                  <a:lumMod val="65000"/>
                  <a:lumOff val="35000"/>
                </a:schemeClr>
              </a:solidFill>
              <a:latin typeface="Calibri"/>
            </a:endParaRPr>
          </a:p>
        </p:txBody>
      </p:sp>
      <p:sp>
        <p:nvSpPr>
          <p:cNvPr id="16" name="Rectangle 15"/>
          <p:cNvSpPr/>
          <p:nvPr/>
        </p:nvSpPr>
        <p:spPr>
          <a:xfrm>
            <a:off x="365760" y="3401568"/>
            <a:ext cx="5029200" cy="1152144"/>
          </a:xfrm>
          <a:prstGeom prst="rect">
            <a:avLst/>
          </a:prstGeom>
          <a:solidFill>
            <a:srgbClr val="EBF2FF"/>
          </a:solidFill>
          <a:ln w="1270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401568"/>
            <a:ext cx="109728" cy="115214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493008"/>
            <a:ext cx="4572000" cy="329184"/>
          </a:xfrm>
          <a:prstGeom prst="rect">
            <a:avLst/>
          </a:prstGeom>
          <a:noFill/>
        </p:spPr>
        <p:txBody>
          <a:bodyPr wrap="square">
            <a:spAutoFit/>
          </a:bodyPr>
          <a:lstStyle/>
          <a:p>
            <a:pPr algn="l"/>
            <a:r>
              <a:rPr sz="1600" b="1" i="0" dirty="0">
                <a:solidFill>
                  <a:srgbClr val="1F3B70"/>
                </a:solidFill>
                <a:latin typeface="Calibri"/>
              </a:rPr>
              <a:t>Two Questions</a:t>
            </a:r>
          </a:p>
        </p:txBody>
      </p:sp>
      <p:sp>
        <p:nvSpPr>
          <p:cNvPr id="19" name="TextBox 18"/>
          <p:cNvSpPr txBox="1"/>
          <p:nvPr/>
        </p:nvSpPr>
        <p:spPr>
          <a:xfrm>
            <a:off x="594360" y="3858768"/>
            <a:ext cx="4572000" cy="430887"/>
          </a:xfrm>
          <a:prstGeom prst="rect">
            <a:avLst/>
          </a:prstGeom>
          <a:noFill/>
        </p:spPr>
        <p:txBody>
          <a:bodyPr wrap="square">
            <a:spAutoFit/>
          </a:bodyPr>
          <a:lstStyle/>
          <a:p>
            <a:pPr algn="l"/>
            <a:r>
              <a:rPr sz="1100" b="0" i="1" dirty="0">
                <a:solidFill>
                  <a:schemeClr val="tx1">
                    <a:lumMod val="65000"/>
                    <a:lumOff val="35000"/>
                  </a:schemeClr>
                </a:solidFill>
                <a:latin typeface="Calibri"/>
              </a:rPr>
              <a:t>Which characteristics make damage more likely? And if damage occurs </a:t>
            </a:r>
            <a:r>
              <a:rPr lang="en-US" sz="1100" b="0" i="1" dirty="0">
                <a:solidFill>
                  <a:schemeClr val="tx1">
                    <a:lumMod val="65000"/>
                    <a:lumOff val="35000"/>
                  </a:schemeClr>
                </a:solidFill>
                <a:latin typeface="Calibri"/>
              </a:rPr>
              <a:t>:</a:t>
            </a:r>
            <a:r>
              <a:rPr sz="1100" b="0" i="1" dirty="0">
                <a:solidFill>
                  <a:schemeClr val="tx1">
                    <a:lumMod val="65000"/>
                    <a:lumOff val="35000"/>
                  </a:schemeClr>
                </a:solidFill>
                <a:latin typeface="Calibri"/>
              </a:rPr>
              <a:t> how many dollars?</a:t>
            </a:r>
          </a:p>
        </p:txBody>
      </p:sp>
      <p:sp>
        <p:nvSpPr>
          <p:cNvPr id="20" name="Rectangle 19"/>
          <p:cNvSpPr/>
          <p:nvPr/>
        </p:nvSpPr>
        <p:spPr>
          <a:xfrm>
            <a:off x="5623560" y="804672"/>
            <a:ext cx="3200400" cy="391363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23560" y="804672"/>
            <a:ext cx="3200400" cy="384048"/>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15000" y="822960"/>
            <a:ext cx="2999232" cy="329184"/>
          </a:xfrm>
          <a:prstGeom prst="rect">
            <a:avLst/>
          </a:prstGeom>
          <a:noFill/>
        </p:spPr>
        <p:txBody>
          <a:bodyPr wrap="square">
            <a:spAutoFit/>
          </a:bodyPr>
          <a:lstStyle/>
          <a:p>
            <a:pPr algn="ctr"/>
            <a:r>
              <a:rPr sz="1400" b="1" i="0">
                <a:solidFill>
                  <a:srgbClr val="FFFFFF"/>
                </a:solidFill>
                <a:latin typeface="Calibri"/>
              </a:rPr>
              <a:t>Our Solution</a:t>
            </a:r>
          </a:p>
        </p:txBody>
      </p:sp>
      <p:sp>
        <p:nvSpPr>
          <p:cNvPr id="23" name="Rectangle 22"/>
          <p:cNvSpPr/>
          <p:nvPr/>
        </p:nvSpPr>
        <p:spPr>
          <a:xfrm>
            <a:off x="5760720" y="1399032"/>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0" y="1325880"/>
            <a:ext cx="822960" cy="256032"/>
          </a:xfrm>
          <a:prstGeom prst="rect">
            <a:avLst/>
          </a:prstGeom>
          <a:noFill/>
        </p:spPr>
        <p:txBody>
          <a:bodyPr wrap="square">
            <a:spAutoFit/>
          </a:bodyPr>
          <a:lstStyle/>
          <a:p>
            <a:pPr algn="l"/>
            <a:r>
              <a:rPr sz="1100" b="1" i="0">
                <a:solidFill>
                  <a:srgbClr val="F5A023"/>
                </a:solidFill>
                <a:latin typeface="Calibri"/>
              </a:rPr>
              <a:t>Stage 1</a:t>
            </a:r>
          </a:p>
        </p:txBody>
      </p:sp>
      <p:sp>
        <p:nvSpPr>
          <p:cNvPr id="25" name="TextBox 24"/>
          <p:cNvSpPr txBox="1"/>
          <p:nvPr/>
        </p:nvSpPr>
        <p:spPr>
          <a:xfrm>
            <a:off x="5943600" y="1563624"/>
            <a:ext cx="2743200" cy="384048"/>
          </a:xfrm>
          <a:prstGeom prst="rect">
            <a:avLst/>
          </a:prstGeom>
          <a:noFill/>
        </p:spPr>
        <p:txBody>
          <a:bodyPr wrap="square">
            <a:spAutoFit/>
          </a:bodyPr>
          <a:lstStyle/>
          <a:p>
            <a:pPr algn="l"/>
            <a:r>
              <a:rPr sz="1000" b="0" i="0" dirty="0">
                <a:solidFill>
                  <a:srgbClr val="D6E4F7"/>
                </a:solidFill>
                <a:latin typeface="Calibri"/>
              </a:rPr>
              <a:t>Which characteristics drive damage?
→ Logistic Regression + XGBoost</a:t>
            </a:r>
          </a:p>
        </p:txBody>
      </p:sp>
      <p:sp>
        <p:nvSpPr>
          <p:cNvPr id="26" name="Rectangle 25"/>
          <p:cNvSpPr/>
          <p:nvPr/>
        </p:nvSpPr>
        <p:spPr>
          <a:xfrm>
            <a:off x="5760720" y="2130552"/>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0" y="2057400"/>
            <a:ext cx="822960" cy="256032"/>
          </a:xfrm>
          <a:prstGeom prst="rect">
            <a:avLst/>
          </a:prstGeom>
          <a:noFill/>
        </p:spPr>
        <p:txBody>
          <a:bodyPr wrap="square">
            <a:spAutoFit/>
          </a:bodyPr>
          <a:lstStyle/>
          <a:p>
            <a:pPr algn="l"/>
            <a:r>
              <a:rPr sz="1100" b="1" i="0">
                <a:solidFill>
                  <a:srgbClr val="F5A023"/>
                </a:solidFill>
                <a:latin typeface="Calibri"/>
              </a:rPr>
              <a:t>Stage 2</a:t>
            </a:r>
          </a:p>
        </p:txBody>
      </p:sp>
      <p:sp>
        <p:nvSpPr>
          <p:cNvPr id="28" name="TextBox 27"/>
          <p:cNvSpPr txBox="1"/>
          <p:nvPr/>
        </p:nvSpPr>
        <p:spPr>
          <a:xfrm>
            <a:off x="5943600" y="2295144"/>
            <a:ext cx="2743200" cy="384048"/>
          </a:xfrm>
          <a:prstGeom prst="rect">
            <a:avLst/>
          </a:prstGeom>
          <a:noFill/>
        </p:spPr>
        <p:txBody>
          <a:bodyPr wrap="square">
            <a:spAutoFit/>
          </a:bodyPr>
          <a:lstStyle/>
          <a:p>
            <a:pPr algn="l"/>
            <a:r>
              <a:rPr sz="1000" b="0" i="0" dirty="0">
                <a:solidFill>
                  <a:srgbClr val="D6E4F7"/>
                </a:solidFill>
                <a:latin typeface="Calibri"/>
              </a:rPr>
              <a:t>How many dollars of damage?
→ Random Forest + XGBoost regression</a:t>
            </a:r>
          </a:p>
        </p:txBody>
      </p:sp>
      <p:sp>
        <p:nvSpPr>
          <p:cNvPr id="29" name="Rectangle 28"/>
          <p:cNvSpPr/>
          <p:nvPr/>
        </p:nvSpPr>
        <p:spPr>
          <a:xfrm>
            <a:off x="5760720" y="2862072"/>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0" y="2788920"/>
            <a:ext cx="822960" cy="256032"/>
          </a:xfrm>
          <a:prstGeom prst="rect">
            <a:avLst/>
          </a:prstGeom>
          <a:noFill/>
        </p:spPr>
        <p:txBody>
          <a:bodyPr wrap="square">
            <a:spAutoFit/>
          </a:bodyPr>
          <a:lstStyle/>
          <a:p>
            <a:pPr algn="l"/>
            <a:r>
              <a:rPr sz="1100" b="1" i="0">
                <a:solidFill>
                  <a:srgbClr val="F5A023"/>
                </a:solidFill>
                <a:latin typeface="Calibri"/>
              </a:rPr>
              <a:t>Speed</a:t>
            </a:r>
          </a:p>
        </p:txBody>
      </p:sp>
      <p:sp>
        <p:nvSpPr>
          <p:cNvPr id="31" name="TextBox 30"/>
          <p:cNvSpPr txBox="1"/>
          <p:nvPr/>
        </p:nvSpPr>
        <p:spPr>
          <a:xfrm>
            <a:off x="5943600" y="3026664"/>
            <a:ext cx="2743200" cy="246221"/>
          </a:xfrm>
          <a:prstGeom prst="rect">
            <a:avLst/>
          </a:prstGeom>
          <a:noFill/>
        </p:spPr>
        <p:txBody>
          <a:bodyPr wrap="square">
            <a:spAutoFit/>
          </a:bodyPr>
          <a:lstStyle/>
          <a:p>
            <a:r>
              <a:rPr lang="en-US" sz="1000" dirty="0">
                <a:solidFill>
                  <a:srgbClr val="D6E4F7"/>
                </a:solidFill>
                <a:latin typeface="Calibri"/>
              </a:rPr>
              <a:t>Same day : the moment NOAA records the storm</a:t>
            </a:r>
            <a:endParaRPr sz="1000" dirty="0">
              <a:solidFill>
                <a:srgbClr val="D6E4F7"/>
              </a:solidFill>
              <a:latin typeface="Calibri"/>
            </a:endParaRPr>
          </a:p>
        </p:txBody>
      </p:sp>
      <p:sp>
        <p:nvSpPr>
          <p:cNvPr id="32" name="Rectangle 31"/>
          <p:cNvSpPr/>
          <p:nvPr/>
        </p:nvSpPr>
        <p:spPr>
          <a:xfrm>
            <a:off x="5760720" y="3593592"/>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0" y="3520440"/>
            <a:ext cx="822960" cy="256032"/>
          </a:xfrm>
          <a:prstGeom prst="rect">
            <a:avLst/>
          </a:prstGeom>
          <a:noFill/>
        </p:spPr>
        <p:txBody>
          <a:bodyPr wrap="square">
            <a:spAutoFit/>
          </a:bodyPr>
          <a:lstStyle/>
          <a:p>
            <a:pPr algn="l"/>
            <a:r>
              <a:rPr sz="1100" b="1" i="0">
                <a:solidFill>
                  <a:srgbClr val="F5A023"/>
                </a:solidFill>
                <a:latin typeface="Calibri"/>
              </a:rPr>
              <a:t>Impact</a:t>
            </a:r>
          </a:p>
        </p:txBody>
      </p:sp>
      <p:sp>
        <p:nvSpPr>
          <p:cNvPr id="34" name="TextBox 33"/>
          <p:cNvSpPr txBox="1"/>
          <p:nvPr/>
        </p:nvSpPr>
        <p:spPr>
          <a:xfrm>
            <a:off x="5943600" y="3758184"/>
            <a:ext cx="2743200" cy="861774"/>
          </a:xfrm>
          <a:prstGeom prst="rect">
            <a:avLst/>
          </a:prstGeom>
          <a:noFill/>
        </p:spPr>
        <p:txBody>
          <a:bodyPr wrap="square">
            <a:spAutoFit/>
          </a:bodyPr>
          <a:lstStyle/>
          <a:p>
            <a:pPr marL="171450" indent="-171450">
              <a:buFont typeface="Arial" panose="020B0604020202020204" pitchFamily="34" charset="0"/>
              <a:buChar char="•"/>
            </a:pPr>
            <a:r>
              <a:rPr lang="en-US" sz="1000" dirty="0">
                <a:solidFill>
                  <a:schemeClr val="bg1"/>
                </a:solidFill>
              </a:rPr>
              <a:t>Identify which locations were damaged - same day</a:t>
            </a:r>
            <a:r>
              <a:rPr lang="en-US" sz="1000" dirty="0">
                <a:solidFill>
                  <a:schemeClr val="bg1"/>
                </a:solidFill>
                <a:latin typeface="Calibri"/>
              </a:rPr>
              <a:t> </a:t>
            </a:r>
          </a:p>
          <a:p>
            <a:pPr marL="171450" indent="-171450">
              <a:buFont typeface="Arial" panose="020B0604020202020204" pitchFamily="34" charset="0"/>
              <a:buChar char="•"/>
            </a:pPr>
            <a:r>
              <a:rPr lang="en-US" sz="1000" dirty="0">
                <a:solidFill>
                  <a:schemeClr val="bg1"/>
                </a:solidFill>
                <a:latin typeface="Calibri"/>
              </a:rPr>
              <a:t>Set financial reserves immediately : </a:t>
            </a:r>
            <a:r>
              <a:rPr lang="en-US" sz="1000" dirty="0">
                <a:solidFill>
                  <a:schemeClr val="bg1"/>
                </a:solidFill>
              </a:rPr>
              <a:t>no waiting for field reports</a:t>
            </a:r>
            <a:endParaRPr lang="en-US" sz="1000" dirty="0">
              <a:solidFill>
                <a:schemeClr val="bg1"/>
              </a:solidFill>
              <a:latin typeface="Calibri"/>
            </a:endParaRPr>
          </a:p>
          <a:p>
            <a:pPr marL="171450" indent="-171450">
              <a:buFont typeface="Arial" panose="020B0604020202020204" pitchFamily="34" charset="0"/>
              <a:buChar char="•"/>
            </a:pPr>
            <a:r>
              <a:rPr lang="en-US" sz="1000" dirty="0">
                <a:solidFill>
                  <a:schemeClr val="bg1"/>
                </a:solidFill>
              </a:rPr>
              <a:t>See where losses are clustering in a region</a:t>
            </a:r>
            <a:endParaRPr sz="1000" dirty="0">
              <a:solidFill>
                <a:schemeClr val="bg1"/>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tx1">
                    <a:lumMod val="65000"/>
                    <a:lumOff val="35000"/>
                  </a:schemeClr>
                </a:solidFill>
                <a:latin typeface="Calibri"/>
              </a:rPr>
              <a:t>02</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a:solidFill>
                  <a:srgbClr val="1F3B70"/>
                </a:solidFill>
                <a:latin typeface="Calibri"/>
              </a:rPr>
              <a:t>Data &amp; Research Question</a:t>
            </a:r>
          </a:p>
        </p:txBody>
      </p:sp>
      <p:sp>
        <p:nvSpPr>
          <p:cNvPr id="6" name="TextBox 5"/>
          <p:cNvSpPr txBox="1"/>
          <p:nvPr/>
        </p:nvSpPr>
        <p:spPr>
          <a:xfrm>
            <a:off x="2011680" y="3401568"/>
            <a:ext cx="5120640" cy="347472"/>
          </a:xfrm>
          <a:prstGeom prst="rect">
            <a:avLst/>
          </a:prstGeom>
          <a:noFill/>
        </p:spPr>
        <p:txBody>
          <a:bodyPr wrap="square">
            <a:spAutoFit/>
          </a:bodyPr>
          <a:lstStyle/>
          <a:p>
            <a:pPr algn="ctr"/>
            <a:r>
              <a:rPr sz="1300" b="0" i="0">
                <a:solidFill>
                  <a:srgbClr val="787C8A"/>
                </a:solidFill>
                <a:latin typeface="Calibri"/>
              </a:rPr>
              <a:t>NOAA Storm Events Database · 7 years · 283,155 events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02</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dirty="0">
                <a:solidFill>
                  <a:srgbClr val="FFFFFF"/>
                </a:solidFill>
                <a:latin typeface="Calibri"/>
              </a:rPr>
              <a:t>Dataset &amp; Research Question</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April 202</a:t>
            </a:r>
            <a:r>
              <a:rPr lang="en-US" sz="800" b="0" i="0" dirty="0">
                <a:solidFill>
                  <a:srgbClr val="D6E4F7"/>
                </a:solidFill>
                <a:latin typeface="Calibri"/>
              </a:rPr>
              <a:t>6</a:t>
            </a:r>
            <a:endParaRPr sz="800" b="0" i="0" dirty="0">
              <a:solidFill>
                <a:srgbClr val="D6E4F7"/>
              </a:solidFill>
              <a:latin typeface="Calibri"/>
            </a:endParaRPr>
          </a:p>
        </p:txBody>
      </p:sp>
      <p:sp>
        <p:nvSpPr>
          <p:cNvPr id="8" name="TextBox 7"/>
          <p:cNvSpPr txBox="1"/>
          <p:nvPr/>
        </p:nvSpPr>
        <p:spPr>
          <a:xfrm>
            <a:off x="365760" y="777240"/>
            <a:ext cx="4663440" cy="310896"/>
          </a:xfrm>
          <a:prstGeom prst="rect">
            <a:avLst/>
          </a:prstGeom>
          <a:noFill/>
        </p:spPr>
        <p:txBody>
          <a:bodyPr wrap="square">
            <a:spAutoFit/>
          </a:bodyPr>
          <a:lstStyle/>
          <a:p>
            <a:pPr algn="l"/>
            <a:r>
              <a:rPr sz="1300" b="1" i="0">
                <a:solidFill>
                  <a:srgbClr val="1F3B70"/>
                </a:solidFill>
                <a:latin typeface="Calibri"/>
              </a:rPr>
              <a:t>NOAA Severe Storm Events Database</a:t>
            </a:r>
          </a:p>
        </p:txBody>
      </p:sp>
      <p:sp>
        <p:nvSpPr>
          <p:cNvPr id="9" name="Rectangle 8"/>
          <p:cNvSpPr/>
          <p:nvPr/>
        </p:nvSpPr>
        <p:spPr>
          <a:xfrm>
            <a:off x="365760" y="1216152"/>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143000"/>
            <a:ext cx="914400" cy="274320"/>
          </a:xfrm>
          <a:prstGeom prst="rect">
            <a:avLst/>
          </a:prstGeom>
          <a:noFill/>
        </p:spPr>
        <p:txBody>
          <a:bodyPr wrap="square">
            <a:spAutoFit/>
          </a:bodyPr>
          <a:lstStyle/>
          <a:p>
            <a:pPr algn="l"/>
            <a:r>
              <a:rPr sz="1100" b="1" i="0">
                <a:solidFill>
                  <a:srgbClr val="1F3B70"/>
                </a:solidFill>
                <a:latin typeface="Calibri"/>
              </a:rPr>
              <a:t>Source:</a:t>
            </a:r>
          </a:p>
        </p:txBody>
      </p:sp>
      <p:sp>
        <p:nvSpPr>
          <p:cNvPr id="11" name="TextBox 10"/>
          <p:cNvSpPr txBox="1"/>
          <p:nvPr/>
        </p:nvSpPr>
        <p:spPr>
          <a:xfrm>
            <a:off x="1508760" y="1143000"/>
            <a:ext cx="3291840" cy="400110"/>
          </a:xfrm>
          <a:prstGeom prst="rect">
            <a:avLst/>
          </a:prstGeom>
          <a:noFill/>
        </p:spPr>
        <p:txBody>
          <a:bodyPr wrap="square">
            <a:spAutoFit/>
          </a:bodyPr>
          <a:lstStyle/>
          <a:p>
            <a:pPr algn="l"/>
            <a:r>
              <a:rPr sz="1000" b="0" i="0" dirty="0">
                <a:solidFill>
                  <a:srgbClr val="3A3A3A"/>
                </a:solidFill>
                <a:latin typeface="Calibri"/>
              </a:rPr>
              <a:t>National Oceanic and Atmospheric Administration </a:t>
            </a:r>
            <a:r>
              <a:rPr lang="en-US" sz="1000" b="0" i="0" dirty="0">
                <a:solidFill>
                  <a:srgbClr val="3A3A3A"/>
                </a:solidFill>
                <a:latin typeface="Calibri"/>
              </a:rPr>
              <a:t>:</a:t>
            </a:r>
            <a:r>
              <a:rPr sz="1000" b="0" i="0" dirty="0">
                <a:solidFill>
                  <a:srgbClr val="3A3A3A"/>
                </a:solidFill>
                <a:latin typeface="Calibri"/>
              </a:rPr>
              <a:t> official US government</a:t>
            </a:r>
          </a:p>
        </p:txBody>
      </p:sp>
      <p:sp>
        <p:nvSpPr>
          <p:cNvPr id="12" name="Rectangle 11"/>
          <p:cNvSpPr/>
          <p:nvPr/>
        </p:nvSpPr>
        <p:spPr>
          <a:xfrm>
            <a:off x="365760" y="1691640"/>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618488"/>
            <a:ext cx="914400" cy="274320"/>
          </a:xfrm>
          <a:prstGeom prst="rect">
            <a:avLst/>
          </a:prstGeom>
          <a:noFill/>
        </p:spPr>
        <p:txBody>
          <a:bodyPr wrap="square">
            <a:spAutoFit/>
          </a:bodyPr>
          <a:lstStyle/>
          <a:p>
            <a:pPr algn="l"/>
            <a:r>
              <a:rPr sz="1100" b="1" i="0">
                <a:solidFill>
                  <a:srgbClr val="1F3B70"/>
                </a:solidFill>
                <a:latin typeface="Calibri"/>
              </a:rPr>
              <a:t>Period:</a:t>
            </a:r>
          </a:p>
        </p:txBody>
      </p:sp>
      <p:sp>
        <p:nvSpPr>
          <p:cNvPr id="14" name="TextBox 13"/>
          <p:cNvSpPr txBox="1"/>
          <p:nvPr/>
        </p:nvSpPr>
        <p:spPr>
          <a:xfrm>
            <a:off x="1508760" y="1618488"/>
            <a:ext cx="3291840" cy="384048"/>
          </a:xfrm>
          <a:prstGeom prst="rect">
            <a:avLst/>
          </a:prstGeom>
          <a:noFill/>
        </p:spPr>
        <p:txBody>
          <a:bodyPr wrap="square">
            <a:spAutoFit/>
          </a:bodyPr>
          <a:lstStyle/>
          <a:p>
            <a:pPr algn="l"/>
            <a:r>
              <a:rPr sz="1000" b="0" i="0">
                <a:solidFill>
                  <a:srgbClr val="3A3A3A"/>
                </a:solidFill>
                <a:latin typeface="Calibri"/>
              </a:rPr>
              <a:t>2013–2020 · 7 years (2016 file unavailable)</a:t>
            </a:r>
          </a:p>
        </p:txBody>
      </p:sp>
      <p:sp>
        <p:nvSpPr>
          <p:cNvPr id="15" name="Rectangle 14"/>
          <p:cNvSpPr/>
          <p:nvPr/>
        </p:nvSpPr>
        <p:spPr>
          <a:xfrm>
            <a:off x="365760" y="2167128"/>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093976"/>
            <a:ext cx="914400" cy="274320"/>
          </a:xfrm>
          <a:prstGeom prst="rect">
            <a:avLst/>
          </a:prstGeom>
          <a:noFill/>
        </p:spPr>
        <p:txBody>
          <a:bodyPr wrap="square">
            <a:spAutoFit/>
          </a:bodyPr>
          <a:lstStyle/>
          <a:p>
            <a:pPr algn="l"/>
            <a:r>
              <a:rPr sz="1100" b="1" i="0">
                <a:solidFill>
                  <a:srgbClr val="1F3B70"/>
                </a:solidFill>
                <a:latin typeface="Calibri"/>
              </a:rPr>
              <a:t>Dataset:</a:t>
            </a:r>
          </a:p>
        </p:txBody>
      </p:sp>
      <p:sp>
        <p:nvSpPr>
          <p:cNvPr id="17" name="TextBox 16"/>
          <p:cNvSpPr txBox="1"/>
          <p:nvPr/>
        </p:nvSpPr>
        <p:spPr>
          <a:xfrm>
            <a:off x="1508760" y="2093976"/>
            <a:ext cx="3291840" cy="384048"/>
          </a:xfrm>
          <a:prstGeom prst="rect">
            <a:avLst/>
          </a:prstGeom>
          <a:noFill/>
        </p:spPr>
        <p:txBody>
          <a:bodyPr wrap="square">
            <a:spAutoFit/>
          </a:bodyPr>
          <a:lstStyle/>
          <a:p>
            <a:pPr algn="l"/>
            <a:r>
              <a:rPr sz="1000" b="0" i="0">
                <a:solidFill>
                  <a:srgbClr val="3A3A3A"/>
                </a:solidFill>
                <a:latin typeface="Calibri"/>
              </a:rPr>
              <a:t>409,280 raw rows → 283,155 after filtering to known damage records</a:t>
            </a:r>
          </a:p>
        </p:txBody>
      </p:sp>
      <p:sp>
        <p:nvSpPr>
          <p:cNvPr id="18" name="Rectangle 17"/>
          <p:cNvSpPr/>
          <p:nvPr/>
        </p:nvSpPr>
        <p:spPr>
          <a:xfrm>
            <a:off x="365760" y="2642616"/>
            <a:ext cx="73152"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569464"/>
            <a:ext cx="914400" cy="274320"/>
          </a:xfrm>
          <a:prstGeom prst="rect">
            <a:avLst/>
          </a:prstGeom>
          <a:noFill/>
        </p:spPr>
        <p:txBody>
          <a:bodyPr wrap="square">
            <a:spAutoFit/>
          </a:bodyPr>
          <a:lstStyle/>
          <a:p>
            <a:pPr algn="l"/>
            <a:r>
              <a:rPr sz="1100" b="1" i="0">
                <a:solidFill>
                  <a:srgbClr val="1F3B70"/>
                </a:solidFill>
                <a:latin typeface="Calibri"/>
              </a:rPr>
              <a:t>Coverage:</a:t>
            </a:r>
          </a:p>
        </p:txBody>
      </p:sp>
      <p:sp>
        <p:nvSpPr>
          <p:cNvPr id="20" name="TextBox 19"/>
          <p:cNvSpPr txBox="1"/>
          <p:nvPr/>
        </p:nvSpPr>
        <p:spPr>
          <a:xfrm>
            <a:off x="1508760" y="2569464"/>
            <a:ext cx="3291840" cy="384048"/>
          </a:xfrm>
          <a:prstGeom prst="rect">
            <a:avLst/>
          </a:prstGeom>
          <a:noFill/>
        </p:spPr>
        <p:txBody>
          <a:bodyPr wrap="square">
            <a:spAutoFit/>
          </a:bodyPr>
          <a:lstStyle/>
          <a:p>
            <a:pPr algn="l"/>
            <a:r>
              <a:rPr sz="1000" b="0" i="0">
                <a:solidFill>
                  <a:srgbClr val="3A3A3A"/>
                </a:solidFill>
                <a:latin typeface="Calibri"/>
              </a:rPr>
              <a:t>All 50 US states · 55+ storm types</a:t>
            </a:r>
          </a:p>
        </p:txBody>
      </p:sp>
      <p:sp>
        <p:nvSpPr>
          <p:cNvPr id="21" name="Rectangle 20"/>
          <p:cNvSpPr/>
          <p:nvPr/>
        </p:nvSpPr>
        <p:spPr>
          <a:xfrm>
            <a:off x="365760" y="3154680"/>
            <a:ext cx="4846320" cy="1389888"/>
          </a:xfrm>
          <a:prstGeom prst="rect">
            <a:avLst/>
          </a:prstGeom>
          <a:solidFill>
            <a:srgbClr val="EBF2FF"/>
          </a:solidFill>
          <a:ln w="12700">
            <a:solidFill>
              <a:srgbClr val="F5A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218688"/>
            <a:ext cx="1920240" cy="777240"/>
          </a:xfrm>
          <a:prstGeom prst="rect">
            <a:avLst/>
          </a:prstGeom>
          <a:noFill/>
        </p:spPr>
        <p:txBody>
          <a:bodyPr wrap="square">
            <a:spAutoFit/>
          </a:bodyPr>
          <a:lstStyle/>
          <a:p>
            <a:pPr algn="l"/>
            <a:r>
              <a:rPr sz="5400" b="1" i="0">
                <a:solidFill>
                  <a:srgbClr val="F5A023"/>
                </a:solidFill>
                <a:latin typeface="Calibri"/>
              </a:rPr>
              <a:t>73.7%</a:t>
            </a:r>
          </a:p>
        </p:txBody>
      </p:sp>
      <p:sp>
        <p:nvSpPr>
          <p:cNvPr id="23" name="TextBox 22"/>
          <p:cNvSpPr txBox="1"/>
          <p:nvPr/>
        </p:nvSpPr>
        <p:spPr>
          <a:xfrm>
            <a:off x="2468880" y="3337560"/>
            <a:ext cx="2560320" cy="347472"/>
          </a:xfrm>
          <a:prstGeom prst="rect">
            <a:avLst/>
          </a:prstGeom>
          <a:noFill/>
        </p:spPr>
        <p:txBody>
          <a:bodyPr wrap="square">
            <a:spAutoFit/>
          </a:bodyPr>
          <a:lstStyle/>
          <a:p>
            <a:pPr algn="l"/>
            <a:r>
              <a:rPr sz="1200" b="1" i="0">
                <a:solidFill>
                  <a:srgbClr val="1F3B70"/>
                </a:solidFill>
                <a:latin typeface="Calibri"/>
              </a:rPr>
              <a:t>of storms cause ZERO damage</a:t>
            </a:r>
          </a:p>
        </p:txBody>
      </p:sp>
      <p:sp>
        <p:nvSpPr>
          <p:cNvPr id="24" name="TextBox 23"/>
          <p:cNvSpPr txBox="1"/>
          <p:nvPr/>
        </p:nvSpPr>
        <p:spPr>
          <a:xfrm>
            <a:off x="2468880" y="3685032"/>
            <a:ext cx="2560320" cy="658368"/>
          </a:xfrm>
          <a:prstGeom prst="rect">
            <a:avLst/>
          </a:prstGeom>
          <a:noFill/>
        </p:spPr>
        <p:txBody>
          <a:bodyPr wrap="square">
            <a:spAutoFit/>
          </a:bodyPr>
          <a:lstStyle/>
          <a:p>
            <a:pPr algn="l"/>
            <a:r>
              <a:rPr sz="1000" b="0" i="1">
                <a:solidFill>
                  <a:srgbClr val="787C8A"/>
                </a:solidFill>
                <a:latin typeface="Calibri"/>
              </a:rPr>
              <a:t>Why plain linear regression fails → two-stage approach needed</a:t>
            </a:r>
          </a:p>
        </p:txBody>
      </p:sp>
      <p:sp>
        <p:nvSpPr>
          <p:cNvPr id="25" name="Rectangle 24"/>
          <p:cNvSpPr/>
          <p:nvPr/>
        </p:nvSpPr>
        <p:spPr>
          <a:xfrm>
            <a:off x="5349240" y="777240"/>
            <a:ext cx="3493008" cy="3749039"/>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Rectangle 25"/>
          <p:cNvSpPr/>
          <p:nvPr/>
        </p:nvSpPr>
        <p:spPr>
          <a:xfrm>
            <a:off x="5349240" y="777240"/>
            <a:ext cx="3493008" cy="384048"/>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40680" y="804672"/>
            <a:ext cx="3291840" cy="329184"/>
          </a:xfrm>
          <a:prstGeom prst="rect">
            <a:avLst/>
          </a:prstGeom>
          <a:noFill/>
        </p:spPr>
        <p:txBody>
          <a:bodyPr wrap="square">
            <a:spAutoFit/>
          </a:bodyPr>
          <a:lstStyle/>
          <a:p>
            <a:pPr algn="ctr"/>
            <a:r>
              <a:rPr sz="1300" b="1" i="0">
                <a:solidFill>
                  <a:srgbClr val="FFFFFF"/>
                </a:solidFill>
                <a:latin typeface="Calibri"/>
              </a:rPr>
              <a:t>Research Question</a:t>
            </a:r>
          </a:p>
        </p:txBody>
      </p:sp>
      <p:sp>
        <p:nvSpPr>
          <p:cNvPr id="28" name="TextBox 27"/>
          <p:cNvSpPr txBox="1"/>
          <p:nvPr/>
        </p:nvSpPr>
        <p:spPr>
          <a:xfrm>
            <a:off x="5486400" y="1298448"/>
            <a:ext cx="3246120" cy="658368"/>
          </a:xfrm>
          <a:prstGeom prst="rect">
            <a:avLst/>
          </a:prstGeom>
          <a:noFill/>
        </p:spPr>
        <p:txBody>
          <a:bodyPr wrap="square">
            <a:spAutoFit/>
          </a:bodyPr>
          <a:lstStyle/>
          <a:p>
            <a:pPr algn="ctr"/>
            <a:r>
              <a:rPr sz="1400" b="1" i="0">
                <a:solidFill>
                  <a:srgbClr val="F5A023"/>
                </a:solidFill>
                <a:latin typeface="Calibri"/>
              </a:rPr>
              <a:t>Which storm characteristics make
property damage more likely to occur?</a:t>
            </a:r>
          </a:p>
        </p:txBody>
      </p:sp>
      <p:sp>
        <p:nvSpPr>
          <p:cNvPr id="29" name="TextBox 28"/>
          <p:cNvSpPr txBox="1"/>
          <p:nvPr/>
        </p:nvSpPr>
        <p:spPr>
          <a:xfrm>
            <a:off x="5495544" y="1865150"/>
            <a:ext cx="3246120" cy="507831"/>
          </a:xfrm>
          <a:prstGeom prst="rect">
            <a:avLst/>
          </a:prstGeom>
          <a:noFill/>
        </p:spPr>
        <p:txBody>
          <a:bodyPr wrap="square">
            <a:spAutoFit/>
          </a:bodyPr>
          <a:lstStyle/>
          <a:p>
            <a:pPr algn="l"/>
            <a:r>
              <a:rPr sz="900" b="1" dirty="0">
                <a:solidFill>
                  <a:srgbClr val="D6E4F7"/>
                </a:solidFill>
                <a:latin typeface="Calibri"/>
              </a:rPr>
              <a:t>We used damage</a:t>
            </a:r>
            <a:r>
              <a:rPr lang="en-US" sz="900" b="1" dirty="0">
                <a:solidFill>
                  <a:srgbClr val="D6E4F7"/>
                </a:solidFill>
                <a:latin typeface="Calibri"/>
              </a:rPr>
              <a:t>_</a:t>
            </a:r>
            <a:r>
              <a:rPr sz="900" b="1" dirty="0">
                <a:solidFill>
                  <a:srgbClr val="D6E4F7"/>
                </a:solidFill>
                <a:latin typeface="Calibri"/>
              </a:rPr>
              <a:t>occurred (0/1) as the binary dependent variable </a:t>
            </a:r>
            <a:r>
              <a:rPr lang="en-US" sz="900" b="1" dirty="0">
                <a:solidFill>
                  <a:srgbClr val="D6E4F7"/>
                </a:solidFill>
                <a:latin typeface="Calibri"/>
              </a:rPr>
              <a:t>:</a:t>
            </a:r>
            <a:r>
              <a:rPr sz="900" b="1" dirty="0">
                <a:solidFill>
                  <a:srgbClr val="D6E4F7"/>
                </a:solidFill>
                <a:latin typeface="Calibri"/>
              </a:rPr>
              <a:t> logistic regression as baseline, extended to Random Forest and XGBoost.</a:t>
            </a:r>
          </a:p>
        </p:txBody>
      </p:sp>
      <p:sp>
        <p:nvSpPr>
          <p:cNvPr id="30" name="TextBox 29"/>
          <p:cNvSpPr txBox="1"/>
          <p:nvPr/>
        </p:nvSpPr>
        <p:spPr>
          <a:xfrm>
            <a:off x="5495544" y="2404872"/>
            <a:ext cx="3200400" cy="256032"/>
          </a:xfrm>
          <a:prstGeom prst="rect">
            <a:avLst/>
          </a:prstGeom>
          <a:noFill/>
        </p:spPr>
        <p:txBody>
          <a:bodyPr wrap="square">
            <a:spAutoFit/>
          </a:bodyPr>
          <a:lstStyle/>
          <a:p>
            <a:pPr algn="l"/>
            <a:r>
              <a:rPr sz="1000" b="1" i="0" dirty="0">
                <a:solidFill>
                  <a:srgbClr val="F5A023"/>
                </a:solidFill>
                <a:latin typeface="Calibri"/>
              </a:rPr>
              <a:t>Predictors:</a:t>
            </a:r>
          </a:p>
        </p:txBody>
      </p:sp>
      <p:sp>
        <p:nvSpPr>
          <p:cNvPr id="31" name="TextBox 30"/>
          <p:cNvSpPr txBox="1"/>
          <p:nvPr/>
        </p:nvSpPr>
        <p:spPr>
          <a:xfrm>
            <a:off x="5495544" y="2615184"/>
            <a:ext cx="3145536" cy="2677656"/>
          </a:xfrm>
          <a:prstGeom prst="rect">
            <a:avLst/>
          </a:prstGeom>
          <a:noFill/>
        </p:spPr>
        <p:txBody>
          <a:bodyPr wrap="square">
            <a:spAutoFit/>
          </a:bodyPr>
          <a:lstStyle/>
          <a:p>
            <a:r>
              <a:rPr lang="en-US" sz="800" b="1" dirty="0">
                <a:solidFill>
                  <a:schemeClr val="bg1"/>
                </a:solidFill>
              </a:rPr>
              <a:t>Storm characteristics:</a:t>
            </a:r>
            <a:r>
              <a:rPr lang="en-US" sz="800" dirty="0">
                <a:solidFill>
                  <a:schemeClr val="bg1"/>
                </a:solidFill>
              </a:rPr>
              <a:t> magnitude, severity score, tornado width, storm duration, event range.</a:t>
            </a:r>
          </a:p>
          <a:p>
            <a:endParaRPr lang="en-US" sz="800" dirty="0">
              <a:solidFill>
                <a:schemeClr val="bg1"/>
              </a:solidFill>
            </a:endParaRPr>
          </a:p>
          <a:p>
            <a:r>
              <a:rPr lang="en-US" sz="800" b="1" dirty="0">
                <a:solidFill>
                  <a:schemeClr val="bg1"/>
                </a:solidFill>
              </a:rPr>
              <a:t>Storm type &amp; classification:</a:t>
            </a:r>
            <a:r>
              <a:rPr lang="en-US" sz="800" dirty="0">
                <a:solidFill>
                  <a:schemeClr val="bg1"/>
                </a:solidFill>
              </a:rPr>
              <a:t> magnitude type, zone type, weather forecast office (WFO)</a:t>
            </a:r>
            <a:r>
              <a:rPr lang="en-US" sz="800" b="1" dirty="0">
                <a:solidFill>
                  <a:schemeClr val="bg1"/>
                </a:solidFill>
              </a:rPr>
              <a:t>.</a:t>
            </a:r>
          </a:p>
          <a:p>
            <a:endParaRPr lang="en-US" sz="800" b="1" dirty="0">
              <a:solidFill>
                <a:schemeClr val="bg1"/>
              </a:solidFill>
            </a:endParaRPr>
          </a:p>
          <a:p>
            <a:r>
              <a:rPr lang="en-US" sz="800" b="1" dirty="0">
                <a:solidFill>
                  <a:schemeClr val="bg1"/>
                </a:solidFill>
              </a:rPr>
              <a:t>Temporal factors:</a:t>
            </a:r>
            <a:r>
              <a:rPr lang="en-US" sz="800" dirty="0">
                <a:solidFill>
                  <a:schemeClr val="bg1"/>
                </a:solidFill>
              </a:rPr>
              <a:t> month, hour, year, season, hurricane season indicator.</a:t>
            </a:r>
          </a:p>
          <a:p>
            <a:endParaRPr lang="en-US" sz="800" dirty="0">
              <a:solidFill>
                <a:schemeClr val="bg1"/>
              </a:solidFill>
            </a:endParaRPr>
          </a:p>
          <a:p>
            <a:r>
              <a:rPr lang="en-US" sz="800" b="1" dirty="0">
                <a:solidFill>
                  <a:schemeClr val="bg1"/>
                </a:solidFill>
              </a:rPr>
              <a:t>Geographic context:</a:t>
            </a:r>
            <a:r>
              <a:rPr lang="en-US" sz="800" dirty="0">
                <a:solidFill>
                  <a:schemeClr val="bg1"/>
                </a:solidFill>
              </a:rPr>
              <a:t> state, latitude, longitude, coastal indicator, New England indicator</a:t>
            </a:r>
          </a:p>
          <a:p>
            <a:endParaRPr lang="en-US" sz="800" dirty="0">
              <a:solidFill>
                <a:schemeClr val="bg1"/>
              </a:solidFill>
            </a:endParaRPr>
          </a:p>
          <a:p>
            <a:r>
              <a:rPr lang="en-US" sz="800" b="1" dirty="0">
                <a:solidFill>
                  <a:schemeClr val="bg1"/>
                </a:solidFill>
              </a:rPr>
              <a:t>Engineered interactions &amp; encodings:</a:t>
            </a:r>
            <a:r>
              <a:rPr lang="en-US" sz="800" dirty="0">
                <a:solidFill>
                  <a:schemeClr val="bg1"/>
                </a:solidFill>
              </a:rPr>
              <a:t> severity × magnitude interaction, log‑scaled intensity and duration measures, state‑ and WFO‑level target encodings.</a:t>
            </a: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b="0" i="0" dirty="0">
              <a:solidFill>
                <a:schemeClr val="bg1"/>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bg1">
                    <a:lumMod val="50000"/>
                  </a:schemeClr>
                </a:solidFill>
                <a:latin typeface="Calibri"/>
              </a:rPr>
              <a:t>03</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a:solidFill>
                  <a:srgbClr val="1F3B70"/>
                </a:solidFill>
                <a:latin typeface="Calibri"/>
              </a:rPr>
              <a:t>Exploratory Data Analysis</a:t>
            </a:r>
          </a:p>
        </p:txBody>
      </p:sp>
      <p:sp>
        <p:nvSpPr>
          <p:cNvPr id="6" name="TextBox 5"/>
          <p:cNvSpPr txBox="1"/>
          <p:nvPr/>
        </p:nvSpPr>
        <p:spPr>
          <a:xfrm>
            <a:off x="2011680" y="3401568"/>
            <a:ext cx="5120640" cy="292388"/>
          </a:xfrm>
          <a:prstGeom prst="rect">
            <a:avLst/>
          </a:prstGeom>
          <a:noFill/>
        </p:spPr>
        <p:txBody>
          <a:bodyPr wrap="square">
            <a:spAutoFit/>
          </a:bodyPr>
          <a:lstStyle/>
          <a:p>
            <a:pPr algn="ctr"/>
            <a:r>
              <a:rPr sz="1300" b="0" i="0" dirty="0">
                <a:solidFill>
                  <a:srgbClr val="787C8A"/>
                </a:solidFill>
                <a:latin typeface="Calibri"/>
              </a:rPr>
              <a:t>Key patterns · </a:t>
            </a:r>
            <a:r>
              <a:rPr lang="en-US" sz="1300" b="0" i="0" dirty="0">
                <a:solidFill>
                  <a:srgbClr val="787C8A"/>
                </a:solidFill>
                <a:latin typeface="Calibri"/>
              </a:rPr>
              <a:t>S</a:t>
            </a:r>
            <a:r>
              <a:rPr sz="1300" b="0" i="0" dirty="0">
                <a:solidFill>
                  <a:srgbClr val="787C8A"/>
                </a:solidFill>
                <a:latin typeface="Calibri"/>
              </a:rPr>
              <a:t>easonality · </a:t>
            </a:r>
            <a:r>
              <a:rPr lang="en-US" sz="1300" b="0" i="0" dirty="0">
                <a:solidFill>
                  <a:srgbClr val="787C8A"/>
                </a:solidFill>
                <a:latin typeface="Calibri"/>
              </a:rPr>
              <a:t>G</a:t>
            </a:r>
            <a:r>
              <a:rPr sz="1300" b="0" i="0" dirty="0">
                <a:solidFill>
                  <a:srgbClr val="787C8A"/>
                </a:solidFill>
                <a:latin typeface="Calibri"/>
              </a:rPr>
              <a:t>eographic maps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EDA: Frequency ≠ Severity</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532355_image.png"/>
          <p:cNvPicPr>
            <a:picLocks noChangeAspect="1"/>
          </p:cNvPicPr>
          <p:nvPr/>
        </p:nvPicPr>
        <p:blipFill>
          <a:blip r:embed="rId2"/>
          <a:stretch>
            <a:fillRect/>
          </a:stretch>
        </p:blipFill>
        <p:spPr>
          <a:xfrm>
            <a:off x="274320" y="749808"/>
            <a:ext cx="6309360" cy="4041648"/>
          </a:xfrm>
          <a:prstGeom prst="rect">
            <a:avLst/>
          </a:prstGeom>
        </p:spPr>
      </p:pic>
      <p:sp>
        <p:nvSpPr>
          <p:cNvPr id="9" name="Rectangle 8"/>
          <p:cNvSpPr/>
          <p:nvPr/>
        </p:nvSpPr>
        <p:spPr>
          <a:xfrm>
            <a:off x="6720840" y="749808"/>
            <a:ext cx="2121408" cy="4069080"/>
          </a:xfrm>
          <a:prstGeom prst="rect">
            <a:avLst/>
          </a:prstGeom>
          <a:solidFill>
            <a:srgbClr val="EBF2FF"/>
          </a:solidFill>
          <a:ln w="635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20840" y="749808"/>
            <a:ext cx="2121408" cy="34747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768096"/>
            <a:ext cx="1920240" cy="292608"/>
          </a:xfrm>
          <a:prstGeom prst="rect">
            <a:avLst/>
          </a:prstGeom>
          <a:noFill/>
        </p:spPr>
        <p:txBody>
          <a:bodyPr wrap="square">
            <a:spAutoFit/>
          </a:bodyPr>
          <a:lstStyle/>
          <a:p>
            <a:pPr algn="ctr"/>
            <a:r>
              <a:rPr sz="1100" b="1" i="0">
                <a:solidFill>
                  <a:srgbClr val="FFFFFF"/>
                </a:solidFill>
                <a:latin typeface="Calibri"/>
              </a:rPr>
              <a:t>Key Insight</a:t>
            </a:r>
          </a:p>
        </p:txBody>
      </p:sp>
      <p:sp>
        <p:nvSpPr>
          <p:cNvPr id="12" name="Rectangle 11"/>
          <p:cNvSpPr/>
          <p:nvPr/>
        </p:nvSpPr>
        <p:spPr>
          <a:xfrm>
            <a:off x="6812280" y="1243584"/>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95160" y="1188720"/>
            <a:ext cx="1737360" cy="256032"/>
          </a:xfrm>
          <a:prstGeom prst="rect">
            <a:avLst/>
          </a:prstGeom>
          <a:noFill/>
        </p:spPr>
        <p:txBody>
          <a:bodyPr wrap="square">
            <a:spAutoFit/>
          </a:bodyPr>
          <a:lstStyle/>
          <a:p>
            <a:pPr algn="l"/>
            <a:r>
              <a:rPr sz="1000" b="1" i="0">
                <a:solidFill>
                  <a:srgbClr val="F5A023"/>
                </a:solidFill>
                <a:latin typeface="Calibri"/>
              </a:rPr>
              <a:t>Most frequent</a:t>
            </a:r>
          </a:p>
        </p:txBody>
      </p:sp>
      <p:sp>
        <p:nvSpPr>
          <p:cNvPr id="14" name="TextBox 13"/>
          <p:cNvSpPr txBox="1"/>
          <p:nvPr/>
        </p:nvSpPr>
        <p:spPr>
          <a:xfrm>
            <a:off x="6995160" y="1444752"/>
            <a:ext cx="1737360" cy="546303"/>
          </a:xfrm>
          <a:prstGeom prst="rect">
            <a:avLst/>
          </a:prstGeom>
          <a:noFill/>
        </p:spPr>
        <p:txBody>
          <a:bodyPr wrap="square">
            <a:spAutoFit/>
          </a:bodyPr>
          <a:lstStyle/>
          <a:p>
            <a:r>
              <a:rPr sz="950" b="0" i="1" dirty="0">
                <a:solidFill>
                  <a:schemeClr val="tx1">
                    <a:lumMod val="50000"/>
                    <a:lumOff val="50000"/>
                  </a:schemeClr>
                </a:solidFill>
                <a:latin typeface="Calibri"/>
              </a:rPr>
              <a:t>Thunderstorm wind</a:t>
            </a:r>
            <a:r>
              <a:rPr lang="en-US" sz="950" i="1" dirty="0">
                <a:solidFill>
                  <a:schemeClr val="tx1">
                    <a:lumMod val="50000"/>
                    <a:lumOff val="50000"/>
                  </a:schemeClr>
                </a:solidFill>
                <a:latin typeface="Calibri"/>
              </a:rPr>
              <a:t>:</a:t>
            </a:r>
            <a:r>
              <a:rPr sz="950" b="0" i="1" dirty="0">
                <a:solidFill>
                  <a:schemeClr val="tx1">
                    <a:lumMod val="50000"/>
                    <a:lumOff val="50000"/>
                  </a:schemeClr>
                </a:solidFill>
                <a:latin typeface="Calibri"/>
              </a:rPr>
              <a:t>
</a:t>
            </a:r>
            <a:r>
              <a:rPr lang="en-US" sz="1000" b="0" i="1" dirty="0">
                <a:solidFill>
                  <a:schemeClr val="tx1">
                    <a:lumMod val="50000"/>
                    <a:lumOff val="50000"/>
                  </a:schemeClr>
                </a:solidFill>
                <a:latin typeface="Calibri"/>
              </a:rPr>
              <a:t>H</a:t>
            </a:r>
            <a:r>
              <a:rPr lang="en-US" sz="1000" i="1" dirty="0">
                <a:solidFill>
                  <a:schemeClr val="tx1">
                    <a:lumMod val="50000"/>
                    <a:lumOff val="50000"/>
                  </a:schemeClr>
                </a:solidFill>
              </a:rPr>
              <a:t>appens most often but causes modest damage</a:t>
            </a:r>
            <a:endParaRPr sz="950" b="0" i="1" dirty="0">
              <a:solidFill>
                <a:schemeClr val="tx1">
                  <a:lumMod val="50000"/>
                  <a:lumOff val="50000"/>
                </a:schemeClr>
              </a:solidFill>
              <a:latin typeface="Calibri"/>
            </a:endParaRPr>
          </a:p>
        </p:txBody>
      </p:sp>
      <p:sp>
        <p:nvSpPr>
          <p:cNvPr id="15" name="Rectangle 14"/>
          <p:cNvSpPr/>
          <p:nvPr/>
        </p:nvSpPr>
        <p:spPr>
          <a:xfrm>
            <a:off x="6812280" y="1993392"/>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60" y="1938528"/>
            <a:ext cx="1737360" cy="256032"/>
          </a:xfrm>
          <a:prstGeom prst="rect">
            <a:avLst/>
          </a:prstGeom>
          <a:noFill/>
        </p:spPr>
        <p:txBody>
          <a:bodyPr wrap="square">
            <a:spAutoFit/>
          </a:bodyPr>
          <a:lstStyle/>
          <a:p>
            <a:pPr algn="l"/>
            <a:r>
              <a:rPr sz="1000" b="1" i="0">
                <a:solidFill>
                  <a:srgbClr val="2F5FC0"/>
                </a:solidFill>
                <a:latin typeface="Calibri"/>
              </a:rPr>
              <a:t>Most expensive</a:t>
            </a:r>
          </a:p>
        </p:txBody>
      </p:sp>
      <p:sp>
        <p:nvSpPr>
          <p:cNvPr id="17" name="TextBox 16"/>
          <p:cNvSpPr txBox="1"/>
          <p:nvPr/>
        </p:nvSpPr>
        <p:spPr>
          <a:xfrm>
            <a:off x="6995160" y="2194560"/>
            <a:ext cx="1737360" cy="553998"/>
          </a:xfrm>
          <a:prstGeom prst="rect">
            <a:avLst/>
          </a:prstGeom>
          <a:noFill/>
        </p:spPr>
        <p:txBody>
          <a:bodyPr wrap="square">
            <a:spAutoFit/>
          </a:bodyPr>
          <a:lstStyle/>
          <a:p>
            <a:r>
              <a:rPr lang="en-US" sz="950" b="0" i="1" dirty="0">
                <a:solidFill>
                  <a:schemeClr val="tx1">
                    <a:lumMod val="50000"/>
                    <a:lumOff val="50000"/>
                  </a:schemeClr>
                </a:solidFill>
                <a:latin typeface="Calibri"/>
              </a:rPr>
              <a:t>Hurricane =</a:t>
            </a:r>
            <a:r>
              <a:rPr lang="en-US" sz="1000" i="1" dirty="0">
                <a:solidFill>
                  <a:schemeClr val="tx1">
                    <a:lumMod val="50000"/>
                    <a:lumOff val="50000"/>
                  </a:schemeClr>
                </a:solidFill>
              </a:rPr>
              <a:t>$151M average per event :rare but catastrophic</a:t>
            </a:r>
            <a:endParaRPr lang="en-US" sz="950" b="0" i="1" dirty="0">
              <a:solidFill>
                <a:schemeClr val="tx1">
                  <a:lumMod val="50000"/>
                  <a:lumOff val="50000"/>
                </a:schemeClr>
              </a:solidFill>
              <a:latin typeface="Calibri"/>
            </a:endParaRPr>
          </a:p>
        </p:txBody>
      </p:sp>
      <p:sp>
        <p:nvSpPr>
          <p:cNvPr id="18" name="Rectangle 17"/>
          <p:cNvSpPr/>
          <p:nvPr/>
        </p:nvSpPr>
        <p:spPr>
          <a:xfrm>
            <a:off x="6812280" y="2743200"/>
            <a:ext cx="91440" cy="23774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95160" y="2688336"/>
            <a:ext cx="1737360" cy="256032"/>
          </a:xfrm>
          <a:prstGeom prst="rect">
            <a:avLst/>
          </a:prstGeom>
          <a:noFill/>
        </p:spPr>
        <p:txBody>
          <a:bodyPr wrap="square">
            <a:spAutoFit/>
          </a:bodyPr>
          <a:lstStyle/>
          <a:p>
            <a:pPr algn="l"/>
            <a:r>
              <a:rPr sz="1000" b="1" i="0">
                <a:solidFill>
                  <a:srgbClr val="1F3B70"/>
                </a:solidFill>
                <a:latin typeface="Calibri"/>
              </a:rPr>
              <a:t>Critical gap</a:t>
            </a:r>
          </a:p>
        </p:txBody>
      </p:sp>
      <p:sp>
        <p:nvSpPr>
          <p:cNvPr id="20" name="TextBox 19"/>
          <p:cNvSpPr txBox="1"/>
          <p:nvPr/>
        </p:nvSpPr>
        <p:spPr>
          <a:xfrm>
            <a:off x="6995160" y="2944368"/>
            <a:ext cx="1737360" cy="400110"/>
          </a:xfrm>
          <a:prstGeom prst="rect">
            <a:avLst/>
          </a:prstGeom>
          <a:noFill/>
        </p:spPr>
        <p:txBody>
          <a:bodyPr wrap="square">
            <a:spAutoFit/>
          </a:bodyPr>
          <a:lstStyle/>
          <a:p>
            <a:r>
              <a:rPr lang="en-US" sz="1000" i="1" dirty="0">
                <a:solidFill>
                  <a:schemeClr val="tx1">
                    <a:lumMod val="50000"/>
                    <a:lumOff val="50000"/>
                  </a:schemeClr>
                </a:solidFill>
              </a:rPr>
              <a:t>The most frequent storm is </a:t>
            </a:r>
            <a:r>
              <a:rPr lang="en-US" sz="1000" b="1" i="1" dirty="0">
                <a:solidFill>
                  <a:schemeClr val="tx1">
                    <a:lumMod val="50000"/>
                    <a:lumOff val="50000"/>
                  </a:schemeClr>
                </a:solidFill>
              </a:rPr>
              <a:t>NOT</a:t>
            </a:r>
            <a:r>
              <a:rPr lang="en-US" sz="1000" i="1" dirty="0">
                <a:solidFill>
                  <a:schemeClr val="tx1">
                    <a:lumMod val="50000"/>
                    <a:lumOff val="50000"/>
                  </a:schemeClr>
                </a:solidFill>
              </a:rPr>
              <a:t> the most dangerous one</a:t>
            </a:r>
            <a:endParaRPr sz="950" b="0" i="1" dirty="0">
              <a:solidFill>
                <a:schemeClr val="tx1">
                  <a:lumMod val="50000"/>
                  <a:lumOff val="50000"/>
                </a:schemeClr>
              </a:solidFill>
              <a:latin typeface="Calibri"/>
            </a:endParaRPr>
          </a:p>
        </p:txBody>
      </p:sp>
      <p:sp>
        <p:nvSpPr>
          <p:cNvPr id="21" name="Rectangle 20"/>
          <p:cNvSpPr/>
          <p:nvPr/>
        </p:nvSpPr>
        <p:spPr>
          <a:xfrm>
            <a:off x="6812280" y="3493008"/>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3438144"/>
            <a:ext cx="1737360" cy="256032"/>
          </a:xfrm>
          <a:prstGeom prst="rect">
            <a:avLst/>
          </a:prstGeom>
          <a:noFill/>
        </p:spPr>
        <p:txBody>
          <a:bodyPr wrap="square">
            <a:spAutoFit/>
          </a:bodyPr>
          <a:lstStyle/>
          <a:p>
            <a:pPr algn="l"/>
            <a:r>
              <a:rPr sz="1000" b="1" i="0">
                <a:solidFill>
                  <a:srgbClr val="F5A023"/>
                </a:solidFill>
                <a:latin typeface="Calibri"/>
              </a:rPr>
              <a:t>Implication</a:t>
            </a:r>
          </a:p>
        </p:txBody>
      </p:sp>
      <p:sp>
        <p:nvSpPr>
          <p:cNvPr id="23" name="TextBox 22"/>
          <p:cNvSpPr txBox="1"/>
          <p:nvPr/>
        </p:nvSpPr>
        <p:spPr>
          <a:xfrm>
            <a:off x="6995160" y="3694176"/>
            <a:ext cx="1737360" cy="707886"/>
          </a:xfrm>
          <a:prstGeom prst="rect">
            <a:avLst/>
          </a:prstGeom>
          <a:noFill/>
        </p:spPr>
        <p:txBody>
          <a:bodyPr wrap="square">
            <a:spAutoFit/>
          </a:bodyPr>
          <a:lstStyle/>
          <a:p>
            <a:r>
              <a:rPr lang="en-US" sz="1000" i="1" dirty="0">
                <a:solidFill>
                  <a:schemeClr val="tx1">
                    <a:lumMod val="50000"/>
                    <a:lumOff val="50000"/>
                  </a:schemeClr>
                </a:solidFill>
              </a:rPr>
              <a:t>Counting events alone will cause an insurer to dangerously underestimate hurricane risk</a:t>
            </a:r>
            <a:endParaRPr sz="950" b="0" i="1" dirty="0">
              <a:solidFill>
                <a:schemeClr val="tx1">
                  <a:lumMod val="50000"/>
                  <a:lumOff val="50000"/>
                </a:schemeClr>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EDA: When and Where Does Damage Peak?</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505975_image.png"/>
          <p:cNvPicPr>
            <a:picLocks noChangeAspect="1"/>
          </p:cNvPicPr>
          <p:nvPr/>
        </p:nvPicPr>
        <p:blipFill>
          <a:blip r:embed="rId2"/>
          <a:stretch>
            <a:fillRect/>
          </a:stretch>
        </p:blipFill>
        <p:spPr>
          <a:xfrm>
            <a:off x="0" y="749808"/>
            <a:ext cx="6583680" cy="4041648"/>
          </a:xfrm>
          <a:prstGeom prst="rect">
            <a:avLst/>
          </a:prstGeom>
        </p:spPr>
      </p:pic>
      <p:sp>
        <p:nvSpPr>
          <p:cNvPr id="9" name="Rectangle 8"/>
          <p:cNvSpPr/>
          <p:nvPr/>
        </p:nvSpPr>
        <p:spPr>
          <a:xfrm>
            <a:off x="6720840" y="749808"/>
            <a:ext cx="2121408" cy="4069080"/>
          </a:xfrm>
          <a:prstGeom prst="rect">
            <a:avLst/>
          </a:prstGeom>
          <a:solidFill>
            <a:srgbClr val="EBF2FF"/>
          </a:solidFill>
          <a:ln w="635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20840" y="749808"/>
            <a:ext cx="2121408" cy="34747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768096"/>
            <a:ext cx="1920240" cy="292608"/>
          </a:xfrm>
          <a:prstGeom prst="rect">
            <a:avLst/>
          </a:prstGeom>
          <a:noFill/>
        </p:spPr>
        <p:txBody>
          <a:bodyPr wrap="square">
            <a:spAutoFit/>
          </a:bodyPr>
          <a:lstStyle/>
          <a:p>
            <a:pPr algn="ctr"/>
            <a:r>
              <a:rPr sz="1100" b="1" i="0">
                <a:solidFill>
                  <a:srgbClr val="FFFFFF"/>
                </a:solidFill>
                <a:latin typeface="Calibri"/>
              </a:rPr>
              <a:t>Key Findings</a:t>
            </a:r>
          </a:p>
        </p:txBody>
      </p:sp>
      <p:sp>
        <p:nvSpPr>
          <p:cNvPr id="12" name="Rectangle 11"/>
          <p:cNvSpPr/>
          <p:nvPr/>
        </p:nvSpPr>
        <p:spPr>
          <a:xfrm>
            <a:off x="6812280" y="1243584"/>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95160" y="1188720"/>
            <a:ext cx="1737360" cy="256032"/>
          </a:xfrm>
          <a:prstGeom prst="rect">
            <a:avLst/>
          </a:prstGeom>
          <a:noFill/>
        </p:spPr>
        <p:txBody>
          <a:bodyPr wrap="square">
            <a:spAutoFit/>
          </a:bodyPr>
          <a:lstStyle/>
          <a:p>
            <a:pPr algn="l"/>
            <a:r>
              <a:rPr sz="1000" b="1" i="0">
                <a:solidFill>
                  <a:srgbClr val="F5A023"/>
                </a:solidFill>
                <a:latin typeface="Calibri"/>
              </a:rPr>
              <a:t>August peak</a:t>
            </a:r>
          </a:p>
        </p:txBody>
      </p:sp>
      <p:sp>
        <p:nvSpPr>
          <p:cNvPr id="14" name="TextBox 13"/>
          <p:cNvSpPr txBox="1"/>
          <p:nvPr/>
        </p:nvSpPr>
        <p:spPr>
          <a:xfrm>
            <a:off x="6995160" y="1444752"/>
            <a:ext cx="1737360" cy="384048"/>
          </a:xfrm>
          <a:prstGeom prst="rect">
            <a:avLst/>
          </a:prstGeom>
          <a:noFill/>
        </p:spPr>
        <p:txBody>
          <a:bodyPr wrap="square">
            <a:spAutoFit/>
          </a:bodyPr>
          <a:lstStyle/>
          <a:p>
            <a:pPr algn="l"/>
            <a:r>
              <a:rPr sz="950" b="0" i="1" dirty="0">
                <a:solidFill>
                  <a:schemeClr val="tx1">
                    <a:lumMod val="50000"/>
                    <a:lumOff val="50000"/>
                  </a:schemeClr>
                </a:solidFill>
                <a:latin typeface="Calibri"/>
              </a:rPr>
              <a:t>Highest avg damage month</a:t>
            </a:r>
            <a:r>
              <a:rPr lang="en-US" sz="950" b="0" i="1" dirty="0">
                <a:solidFill>
                  <a:schemeClr val="tx1">
                    <a:lumMod val="50000"/>
                    <a:lumOff val="50000"/>
                  </a:schemeClr>
                </a:solidFill>
                <a:latin typeface="Calibri"/>
              </a:rPr>
              <a:t>:</a:t>
            </a:r>
            <a:r>
              <a:rPr sz="950" b="0" i="1" dirty="0">
                <a:solidFill>
                  <a:schemeClr val="tx1">
                    <a:lumMod val="50000"/>
                    <a:lumOff val="50000"/>
                  </a:schemeClr>
                </a:solidFill>
                <a:latin typeface="Calibri"/>
              </a:rPr>
              <a:t> peak hurricane season</a:t>
            </a:r>
          </a:p>
        </p:txBody>
      </p:sp>
      <p:sp>
        <p:nvSpPr>
          <p:cNvPr id="15" name="Rectangle 14"/>
          <p:cNvSpPr/>
          <p:nvPr/>
        </p:nvSpPr>
        <p:spPr>
          <a:xfrm>
            <a:off x="6812280" y="1993392"/>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60" y="1938528"/>
            <a:ext cx="1737360" cy="256032"/>
          </a:xfrm>
          <a:prstGeom prst="rect">
            <a:avLst/>
          </a:prstGeom>
          <a:noFill/>
        </p:spPr>
        <p:txBody>
          <a:bodyPr wrap="square">
            <a:spAutoFit/>
          </a:bodyPr>
          <a:lstStyle/>
          <a:p>
            <a:pPr algn="l"/>
            <a:r>
              <a:rPr sz="1000" b="1" i="0">
                <a:solidFill>
                  <a:srgbClr val="2F5FC0"/>
                </a:solidFill>
                <a:latin typeface="Calibri"/>
              </a:rPr>
              <a:t>Coastal 2.7×</a:t>
            </a:r>
          </a:p>
        </p:txBody>
      </p:sp>
      <p:sp>
        <p:nvSpPr>
          <p:cNvPr id="17" name="TextBox 16"/>
          <p:cNvSpPr txBox="1"/>
          <p:nvPr/>
        </p:nvSpPr>
        <p:spPr>
          <a:xfrm>
            <a:off x="6995160" y="2194560"/>
            <a:ext cx="1737360" cy="553998"/>
          </a:xfrm>
          <a:prstGeom prst="rect">
            <a:avLst/>
          </a:prstGeom>
          <a:noFill/>
        </p:spPr>
        <p:txBody>
          <a:bodyPr wrap="square">
            <a:spAutoFit/>
          </a:bodyPr>
          <a:lstStyle/>
          <a:p>
            <a:r>
              <a:rPr lang="en-US" sz="1000" i="1" dirty="0">
                <a:solidFill>
                  <a:schemeClr val="tx1">
                    <a:lumMod val="50000"/>
                    <a:lumOff val="50000"/>
                  </a:schemeClr>
                </a:solidFill>
              </a:rPr>
              <a:t>Coastal states average 2.7× more damage than inland states across all seasons</a:t>
            </a:r>
            <a:endParaRPr sz="950" b="0" i="1" dirty="0">
              <a:solidFill>
                <a:schemeClr val="tx1">
                  <a:lumMod val="50000"/>
                  <a:lumOff val="50000"/>
                </a:schemeClr>
              </a:solidFill>
              <a:latin typeface="Calibri"/>
            </a:endParaRPr>
          </a:p>
        </p:txBody>
      </p:sp>
      <p:sp>
        <p:nvSpPr>
          <p:cNvPr id="18" name="Rectangle 17"/>
          <p:cNvSpPr/>
          <p:nvPr/>
        </p:nvSpPr>
        <p:spPr>
          <a:xfrm>
            <a:off x="6812280" y="2743200"/>
            <a:ext cx="91440" cy="23774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95160" y="2688336"/>
            <a:ext cx="1737360" cy="256032"/>
          </a:xfrm>
          <a:prstGeom prst="rect">
            <a:avLst/>
          </a:prstGeom>
          <a:noFill/>
        </p:spPr>
        <p:txBody>
          <a:bodyPr wrap="square">
            <a:spAutoFit/>
          </a:bodyPr>
          <a:lstStyle/>
          <a:p>
            <a:pPr algn="l"/>
            <a:r>
              <a:rPr sz="1000" b="1" i="0">
                <a:solidFill>
                  <a:srgbClr val="1F3B70"/>
                </a:solidFill>
                <a:latin typeface="Calibri"/>
              </a:rPr>
              <a:t>Harvey effect</a:t>
            </a:r>
          </a:p>
        </p:txBody>
      </p:sp>
      <p:sp>
        <p:nvSpPr>
          <p:cNvPr id="20" name="TextBox 19"/>
          <p:cNvSpPr txBox="1"/>
          <p:nvPr/>
        </p:nvSpPr>
        <p:spPr>
          <a:xfrm>
            <a:off x="6995160" y="2944368"/>
            <a:ext cx="1737360" cy="553998"/>
          </a:xfrm>
          <a:prstGeom prst="rect">
            <a:avLst/>
          </a:prstGeom>
          <a:noFill/>
        </p:spPr>
        <p:txBody>
          <a:bodyPr wrap="square">
            <a:spAutoFit/>
          </a:bodyPr>
          <a:lstStyle/>
          <a:p>
            <a:r>
              <a:rPr lang="en-US" sz="1000" i="1" dirty="0">
                <a:solidFill>
                  <a:schemeClr val="tx1">
                    <a:lumMod val="50000"/>
                    <a:lumOff val="50000"/>
                  </a:schemeClr>
                </a:solidFill>
              </a:rPr>
              <a:t>Fall inland spike driven by one large 2017 event (like Hurricane Harvey)</a:t>
            </a:r>
            <a:endParaRPr sz="950" b="0" i="1" dirty="0">
              <a:solidFill>
                <a:schemeClr val="tx1">
                  <a:lumMod val="50000"/>
                  <a:lumOff val="50000"/>
                </a:schemeClr>
              </a:solidFill>
              <a:latin typeface="Calibri"/>
            </a:endParaRPr>
          </a:p>
        </p:txBody>
      </p:sp>
      <p:sp>
        <p:nvSpPr>
          <p:cNvPr id="21" name="Rectangle 20"/>
          <p:cNvSpPr/>
          <p:nvPr/>
        </p:nvSpPr>
        <p:spPr>
          <a:xfrm>
            <a:off x="6812280" y="3493008"/>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3438144"/>
            <a:ext cx="1737360" cy="256032"/>
          </a:xfrm>
          <a:prstGeom prst="rect">
            <a:avLst/>
          </a:prstGeom>
          <a:noFill/>
        </p:spPr>
        <p:txBody>
          <a:bodyPr wrap="square">
            <a:spAutoFit/>
          </a:bodyPr>
          <a:lstStyle/>
          <a:p>
            <a:pPr algn="l"/>
            <a:r>
              <a:rPr sz="1000" b="1" i="0">
                <a:solidFill>
                  <a:srgbClr val="F5A023"/>
                </a:solidFill>
                <a:latin typeface="Calibri"/>
              </a:rPr>
              <a:t>Our features</a:t>
            </a:r>
          </a:p>
        </p:txBody>
      </p:sp>
      <p:sp>
        <p:nvSpPr>
          <p:cNvPr id="23" name="TextBox 22"/>
          <p:cNvSpPr txBox="1"/>
          <p:nvPr/>
        </p:nvSpPr>
        <p:spPr>
          <a:xfrm>
            <a:off x="6995160" y="3694176"/>
            <a:ext cx="1737360" cy="707886"/>
          </a:xfrm>
          <a:prstGeom prst="rect">
            <a:avLst/>
          </a:prstGeom>
          <a:noFill/>
        </p:spPr>
        <p:txBody>
          <a:bodyPr wrap="square">
            <a:spAutoFit/>
          </a:bodyPr>
          <a:lstStyle/>
          <a:p>
            <a:r>
              <a:rPr lang="en-US" sz="1000" i="1" dirty="0">
                <a:solidFill>
                  <a:schemeClr val="tx1">
                    <a:lumMod val="50000"/>
                    <a:lumOff val="50000"/>
                  </a:schemeClr>
                </a:solidFill>
              </a:rPr>
              <a:t>We built is_coastal and is_hurricane_season features to capture exactly these patterns</a:t>
            </a:r>
            <a:endParaRPr sz="950" b="0" i="1" dirty="0">
              <a:solidFill>
                <a:schemeClr val="tx1">
                  <a:lumMod val="50000"/>
                  <a:lumOff val="50000"/>
                </a:schemeClr>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dirty="0">
                <a:solidFill>
                  <a:srgbClr val="FFFFFF"/>
                </a:solidFill>
                <a:latin typeface="Calibri"/>
              </a:rPr>
              <a:t>Geographic Analysis — Where Does Damage Concentrate?</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580205_image.png"/>
          <p:cNvPicPr>
            <a:picLocks noChangeAspect="1"/>
          </p:cNvPicPr>
          <p:nvPr/>
        </p:nvPicPr>
        <p:blipFill>
          <a:blip r:embed="rId3"/>
          <a:stretch>
            <a:fillRect/>
          </a:stretch>
        </p:blipFill>
        <p:spPr>
          <a:xfrm>
            <a:off x="210312" y="731519"/>
            <a:ext cx="2743200" cy="1920240"/>
          </a:xfrm>
          <a:prstGeom prst="rect">
            <a:avLst/>
          </a:prstGeom>
        </p:spPr>
      </p:pic>
      <p:pic>
        <p:nvPicPr>
          <p:cNvPr id="9" name="Picture 8" descr="1775440602289_image.png"/>
          <p:cNvPicPr>
            <a:picLocks noChangeAspect="1"/>
          </p:cNvPicPr>
          <p:nvPr/>
        </p:nvPicPr>
        <p:blipFill>
          <a:blip r:embed="rId4"/>
          <a:stretch>
            <a:fillRect/>
          </a:stretch>
        </p:blipFill>
        <p:spPr>
          <a:xfrm>
            <a:off x="3154680" y="749808"/>
            <a:ext cx="2743200" cy="1920240"/>
          </a:xfrm>
          <a:prstGeom prst="rect">
            <a:avLst/>
          </a:prstGeom>
        </p:spPr>
      </p:pic>
      <p:pic>
        <p:nvPicPr>
          <p:cNvPr id="10" name="Picture 9" descr="1775440649735_image.png"/>
          <p:cNvPicPr>
            <a:picLocks noChangeAspect="1"/>
          </p:cNvPicPr>
          <p:nvPr/>
        </p:nvPicPr>
        <p:blipFill>
          <a:blip r:embed="rId5"/>
          <a:stretch>
            <a:fillRect/>
          </a:stretch>
        </p:blipFill>
        <p:spPr>
          <a:xfrm>
            <a:off x="6035040" y="749808"/>
            <a:ext cx="2834640" cy="1920240"/>
          </a:xfrm>
          <a:prstGeom prst="rect">
            <a:avLst/>
          </a:prstGeom>
        </p:spPr>
      </p:pic>
      <p:sp>
        <p:nvSpPr>
          <p:cNvPr id="11" name="Rectangle 10"/>
          <p:cNvSpPr/>
          <p:nvPr/>
        </p:nvSpPr>
        <p:spPr>
          <a:xfrm>
            <a:off x="274320" y="2761488"/>
            <a:ext cx="2697480" cy="56692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2779776"/>
            <a:ext cx="2560320" cy="256032"/>
          </a:xfrm>
          <a:prstGeom prst="rect">
            <a:avLst/>
          </a:prstGeom>
          <a:noFill/>
        </p:spPr>
        <p:txBody>
          <a:bodyPr wrap="square">
            <a:spAutoFit/>
          </a:bodyPr>
          <a:lstStyle/>
          <a:p>
            <a:pPr algn="l"/>
            <a:r>
              <a:rPr sz="1100" b="1" i="0">
                <a:solidFill>
                  <a:srgbClr val="F5A023"/>
                </a:solidFill>
                <a:latin typeface="Calibri"/>
              </a:rPr>
              <a:t>Map 1 — National Heatmap</a:t>
            </a:r>
          </a:p>
        </p:txBody>
      </p:sp>
      <p:sp>
        <p:nvSpPr>
          <p:cNvPr id="13" name="TextBox 12"/>
          <p:cNvSpPr txBox="1"/>
          <p:nvPr/>
        </p:nvSpPr>
        <p:spPr>
          <a:xfrm>
            <a:off x="347472" y="3017520"/>
            <a:ext cx="2560320" cy="369332"/>
          </a:xfrm>
          <a:prstGeom prst="rect">
            <a:avLst/>
          </a:prstGeom>
          <a:noFill/>
        </p:spPr>
        <p:txBody>
          <a:bodyPr wrap="square">
            <a:spAutoFit/>
          </a:bodyPr>
          <a:lstStyle/>
          <a:p>
            <a:pPr algn="l"/>
            <a:r>
              <a:rPr lang="en-US" sz="900" b="0" i="0" dirty="0">
                <a:solidFill>
                  <a:srgbClr val="D6E4F7"/>
                </a:solidFill>
                <a:latin typeface="Calibri"/>
              </a:rPr>
              <a:t>Damage spreads across the East Coast and Midwest : hotspots visible nationwide</a:t>
            </a:r>
            <a:endParaRPr sz="900" b="0" i="0" dirty="0">
              <a:solidFill>
                <a:srgbClr val="D6E4F7"/>
              </a:solidFill>
              <a:latin typeface="Calibri"/>
            </a:endParaRPr>
          </a:p>
        </p:txBody>
      </p:sp>
      <p:sp>
        <p:nvSpPr>
          <p:cNvPr id="14" name="Rectangle 13"/>
          <p:cNvSpPr/>
          <p:nvPr/>
        </p:nvSpPr>
        <p:spPr>
          <a:xfrm>
            <a:off x="3154680" y="2761488"/>
            <a:ext cx="2697480" cy="56692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27832" y="2779776"/>
            <a:ext cx="2560320" cy="256032"/>
          </a:xfrm>
          <a:prstGeom prst="rect">
            <a:avLst/>
          </a:prstGeom>
          <a:noFill/>
        </p:spPr>
        <p:txBody>
          <a:bodyPr wrap="square">
            <a:spAutoFit/>
          </a:bodyPr>
          <a:lstStyle/>
          <a:p>
            <a:pPr algn="l"/>
            <a:r>
              <a:rPr sz="1100" b="1" i="0">
                <a:solidFill>
                  <a:srgbClr val="F5A023"/>
                </a:solidFill>
                <a:latin typeface="Calibri"/>
              </a:rPr>
              <a:t>Map 2 — Top 500 Events</a:t>
            </a:r>
          </a:p>
        </p:txBody>
      </p:sp>
      <p:sp>
        <p:nvSpPr>
          <p:cNvPr id="16" name="TextBox 15"/>
          <p:cNvSpPr txBox="1"/>
          <p:nvPr/>
        </p:nvSpPr>
        <p:spPr>
          <a:xfrm>
            <a:off x="3227832" y="3017520"/>
            <a:ext cx="2560320" cy="230832"/>
          </a:xfrm>
          <a:prstGeom prst="rect">
            <a:avLst/>
          </a:prstGeom>
          <a:noFill/>
        </p:spPr>
        <p:txBody>
          <a:bodyPr wrap="square">
            <a:spAutoFit/>
          </a:bodyPr>
          <a:lstStyle/>
          <a:p>
            <a:pPr algn="l"/>
            <a:r>
              <a:rPr sz="900" b="0" i="0" dirty="0">
                <a:solidFill>
                  <a:srgbClr val="D6E4F7"/>
                </a:solidFill>
                <a:latin typeface="Calibri"/>
              </a:rPr>
              <a:t>Bubble size = dollar damage</a:t>
            </a:r>
          </a:p>
        </p:txBody>
      </p:sp>
      <p:sp>
        <p:nvSpPr>
          <p:cNvPr id="17" name="Rectangle 16"/>
          <p:cNvSpPr/>
          <p:nvPr/>
        </p:nvSpPr>
        <p:spPr>
          <a:xfrm>
            <a:off x="6035040" y="2761488"/>
            <a:ext cx="2697480" cy="566928"/>
          </a:xfrm>
          <a:prstGeom prst="rect">
            <a:avLst/>
          </a:prstGeom>
          <a:solidFill>
            <a:srgbClr val="105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2779776"/>
            <a:ext cx="2560320" cy="256032"/>
          </a:xfrm>
          <a:prstGeom prst="rect">
            <a:avLst/>
          </a:prstGeom>
          <a:noFill/>
        </p:spPr>
        <p:txBody>
          <a:bodyPr wrap="square">
            <a:spAutoFit/>
          </a:bodyPr>
          <a:lstStyle/>
          <a:p>
            <a:pPr algn="l"/>
            <a:r>
              <a:rPr sz="1100" b="1" i="0" dirty="0">
                <a:solidFill>
                  <a:srgbClr val="F5A023"/>
                </a:solidFill>
                <a:latin typeface="Calibri"/>
              </a:rPr>
              <a:t>Map 3 — Boston Focus</a:t>
            </a:r>
          </a:p>
        </p:txBody>
      </p:sp>
      <p:sp>
        <p:nvSpPr>
          <p:cNvPr id="19" name="TextBox 18"/>
          <p:cNvSpPr txBox="1"/>
          <p:nvPr/>
        </p:nvSpPr>
        <p:spPr>
          <a:xfrm>
            <a:off x="6108192" y="3017520"/>
            <a:ext cx="2560320" cy="238527"/>
          </a:xfrm>
          <a:prstGeom prst="rect">
            <a:avLst/>
          </a:prstGeom>
          <a:noFill/>
        </p:spPr>
        <p:txBody>
          <a:bodyPr wrap="square">
            <a:spAutoFit/>
          </a:bodyPr>
          <a:lstStyle/>
          <a:p>
            <a:pPr algn="l"/>
            <a:r>
              <a:rPr sz="900" b="0" i="0" dirty="0">
                <a:solidFill>
                  <a:srgbClr val="D6E4F7"/>
                </a:solidFill>
                <a:latin typeface="Calibri"/>
              </a:rPr>
              <a:t>★ </a:t>
            </a:r>
            <a:r>
              <a:rPr lang="en-US" sz="900" dirty="0">
                <a:solidFill>
                  <a:srgbClr val="D6E4F7"/>
                </a:solidFill>
                <a:latin typeface="Calibri"/>
              </a:rPr>
              <a:t>T</a:t>
            </a:r>
            <a:r>
              <a:rPr sz="900" b="0" i="0" dirty="0">
                <a:solidFill>
                  <a:srgbClr val="D6E4F7"/>
                </a:solidFill>
                <a:latin typeface="Calibri"/>
              </a:rPr>
              <a:t>riple hazard</a:t>
            </a:r>
          </a:p>
        </p:txBody>
      </p:sp>
      <p:sp>
        <p:nvSpPr>
          <p:cNvPr id="20" name="Rectangle 19"/>
          <p:cNvSpPr/>
          <p:nvPr/>
        </p:nvSpPr>
        <p:spPr>
          <a:xfrm>
            <a:off x="253714" y="3447288"/>
            <a:ext cx="8595360" cy="1371600"/>
          </a:xfrm>
          <a:prstGeom prst="rect">
            <a:avLst/>
          </a:prstGeom>
          <a:solidFill>
            <a:srgbClr val="EBF2FF"/>
          </a:solidFill>
          <a:ln w="635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474720"/>
            <a:ext cx="8229600" cy="274320"/>
          </a:xfrm>
          <a:prstGeom prst="rect">
            <a:avLst/>
          </a:prstGeom>
          <a:noFill/>
        </p:spPr>
        <p:txBody>
          <a:bodyPr wrap="square">
            <a:spAutoFit/>
          </a:bodyPr>
          <a:lstStyle/>
          <a:p>
            <a:pPr algn="l"/>
            <a:r>
              <a:rPr sz="1200" b="1" i="0">
                <a:solidFill>
                  <a:srgbClr val="1F3B70"/>
                </a:solidFill>
                <a:latin typeface="Calibri"/>
              </a:rPr>
              <a:t>Key Geographic Findings</a:t>
            </a:r>
          </a:p>
        </p:txBody>
      </p:sp>
      <p:sp>
        <p:nvSpPr>
          <p:cNvPr id="22" name="Rectangle 21"/>
          <p:cNvSpPr/>
          <p:nvPr/>
        </p:nvSpPr>
        <p:spPr>
          <a:xfrm>
            <a:off x="457200" y="3822191"/>
            <a:ext cx="91440" cy="640080"/>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822191"/>
            <a:ext cx="1920240" cy="256032"/>
          </a:xfrm>
          <a:prstGeom prst="rect">
            <a:avLst/>
          </a:prstGeom>
          <a:noFill/>
        </p:spPr>
        <p:txBody>
          <a:bodyPr wrap="square">
            <a:spAutoFit/>
          </a:bodyPr>
          <a:lstStyle/>
          <a:p>
            <a:pPr algn="l"/>
            <a:r>
              <a:rPr lang="en-US" sz="1000" b="1" i="0" dirty="0">
                <a:solidFill>
                  <a:srgbClr val="F5A023"/>
                </a:solidFill>
                <a:latin typeface="Calibri"/>
              </a:rPr>
              <a:t>Map 1 : </a:t>
            </a:r>
            <a:r>
              <a:rPr sz="1000" b="1" i="0" dirty="0">
                <a:solidFill>
                  <a:srgbClr val="F5A023"/>
                </a:solidFill>
                <a:latin typeface="Calibri"/>
              </a:rPr>
              <a:t>Gulf &amp; Southeast</a:t>
            </a:r>
          </a:p>
        </p:txBody>
      </p:sp>
      <p:sp>
        <p:nvSpPr>
          <p:cNvPr id="24" name="TextBox 23"/>
          <p:cNvSpPr txBox="1"/>
          <p:nvPr/>
        </p:nvSpPr>
        <p:spPr>
          <a:xfrm>
            <a:off x="621792" y="4078224"/>
            <a:ext cx="1920240" cy="677108"/>
          </a:xfrm>
          <a:prstGeom prst="rect">
            <a:avLst/>
          </a:prstGeom>
          <a:noFill/>
        </p:spPr>
        <p:txBody>
          <a:bodyPr wrap="square">
            <a:spAutoFit/>
          </a:bodyPr>
          <a:lstStyle/>
          <a:p>
            <a:pPr algn="l"/>
            <a:r>
              <a:rPr lang="en-US" sz="950" b="0" i="0" dirty="0">
                <a:solidFill>
                  <a:schemeClr val="tx1">
                    <a:lumMod val="50000"/>
                    <a:lumOff val="50000"/>
                  </a:schemeClr>
                </a:solidFill>
                <a:latin typeface="Calibri"/>
              </a:rPr>
              <a:t>Gulf Coast &amp; Southeast show the widest damage spread nationally; Pittsburgh and Nashville register the highest individual hotspots</a:t>
            </a:r>
            <a:endParaRPr sz="950" b="0" i="0" dirty="0">
              <a:solidFill>
                <a:schemeClr val="tx1">
                  <a:lumMod val="50000"/>
                  <a:lumOff val="50000"/>
                </a:schemeClr>
              </a:solidFill>
              <a:latin typeface="Calibri"/>
            </a:endParaRPr>
          </a:p>
        </p:txBody>
      </p:sp>
      <p:sp>
        <p:nvSpPr>
          <p:cNvPr id="25" name="Rectangle 24"/>
          <p:cNvSpPr/>
          <p:nvPr/>
        </p:nvSpPr>
        <p:spPr>
          <a:xfrm>
            <a:off x="2606040" y="3822191"/>
            <a:ext cx="91440" cy="640080"/>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70632" y="3822191"/>
            <a:ext cx="1920240" cy="256032"/>
          </a:xfrm>
          <a:prstGeom prst="rect">
            <a:avLst/>
          </a:prstGeom>
          <a:noFill/>
        </p:spPr>
        <p:txBody>
          <a:bodyPr wrap="square">
            <a:spAutoFit/>
          </a:bodyPr>
          <a:lstStyle/>
          <a:p>
            <a:pPr algn="l"/>
            <a:r>
              <a:rPr lang="en-US" sz="1000" b="1" i="0" dirty="0">
                <a:solidFill>
                  <a:srgbClr val="2F5FC0"/>
                </a:solidFill>
                <a:latin typeface="Calibri"/>
              </a:rPr>
              <a:t>Map 2:</a:t>
            </a:r>
            <a:r>
              <a:rPr sz="1000" b="1" i="0" dirty="0">
                <a:solidFill>
                  <a:srgbClr val="2F5FC0"/>
                </a:solidFill>
                <a:latin typeface="Calibri"/>
              </a:rPr>
              <a:t>Tornado Alley</a:t>
            </a:r>
          </a:p>
        </p:txBody>
      </p:sp>
      <p:sp>
        <p:nvSpPr>
          <p:cNvPr id="27" name="TextBox 26"/>
          <p:cNvSpPr txBox="1"/>
          <p:nvPr/>
        </p:nvSpPr>
        <p:spPr>
          <a:xfrm>
            <a:off x="2770632" y="4078224"/>
            <a:ext cx="1920240" cy="384721"/>
          </a:xfrm>
          <a:prstGeom prst="rect">
            <a:avLst/>
          </a:prstGeom>
          <a:noFill/>
        </p:spPr>
        <p:txBody>
          <a:bodyPr wrap="square">
            <a:spAutoFit/>
          </a:bodyPr>
          <a:lstStyle/>
          <a:p>
            <a:pPr algn="l"/>
            <a:r>
              <a:rPr lang="en-US" sz="950" b="0" i="0" dirty="0">
                <a:solidFill>
                  <a:schemeClr val="tx1">
                    <a:lumMod val="50000"/>
                    <a:lumOff val="50000"/>
                  </a:schemeClr>
                </a:solidFill>
                <a:latin typeface="Calibri"/>
              </a:rPr>
              <a:t>Oklahoma &amp; Texas : High event frequency in Tornado Alley corridor</a:t>
            </a:r>
            <a:endParaRPr sz="950" b="0" i="0" dirty="0">
              <a:solidFill>
                <a:schemeClr val="tx1">
                  <a:lumMod val="50000"/>
                  <a:lumOff val="50000"/>
                </a:schemeClr>
              </a:solidFill>
              <a:latin typeface="Calibri"/>
            </a:endParaRPr>
          </a:p>
        </p:txBody>
      </p:sp>
      <p:sp>
        <p:nvSpPr>
          <p:cNvPr id="28" name="Rectangle 27"/>
          <p:cNvSpPr/>
          <p:nvPr/>
        </p:nvSpPr>
        <p:spPr>
          <a:xfrm>
            <a:off x="4754880" y="3822191"/>
            <a:ext cx="91440" cy="640080"/>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80" y="3721492"/>
            <a:ext cx="1920240" cy="246221"/>
          </a:xfrm>
          <a:prstGeom prst="rect">
            <a:avLst/>
          </a:prstGeom>
          <a:noFill/>
        </p:spPr>
        <p:txBody>
          <a:bodyPr wrap="square">
            <a:spAutoFit/>
          </a:bodyPr>
          <a:lstStyle/>
          <a:p>
            <a:pPr algn="l"/>
            <a:r>
              <a:rPr lang="en-US" sz="1000" b="1" i="0" dirty="0">
                <a:solidFill>
                  <a:srgbClr val="1F3B70"/>
                </a:solidFill>
                <a:latin typeface="Calibri"/>
              </a:rPr>
              <a:t>Map 3: New England:</a:t>
            </a:r>
            <a:endParaRPr sz="1000" b="1" i="0" dirty="0">
              <a:solidFill>
                <a:srgbClr val="1F3B70"/>
              </a:solidFill>
              <a:latin typeface="Calibri"/>
            </a:endParaRPr>
          </a:p>
        </p:txBody>
      </p:sp>
      <p:sp>
        <p:nvSpPr>
          <p:cNvPr id="30" name="TextBox 29"/>
          <p:cNvSpPr txBox="1"/>
          <p:nvPr/>
        </p:nvSpPr>
        <p:spPr>
          <a:xfrm>
            <a:off x="4910328" y="3967713"/>
            <a:ext cx="1920240" cy="507831"/>
          </a:xfrm>
          <a:prstGeom prst="rect">
            <a:avLst/>
          </a:prstGeom>
          <a:noFill/>
        </p:spPr>
        <p:txBody>
          <a:bodyPr wrap="square">
            <a:spAutoFit/>
          </a:bodyPr>
          <a:lstStyle/>
          <a:p>
            <a:r>
              <a:rPr lang="en-US" sz="900">
                <a:solidFill>
                  <a:schemeClr val="tx1">
                    <a:lumMod val="50000"/>
                    <a:lumOff val="50000"/>
                  </a:schemeClr>
                </a:solidFill>
              </a:rPr>
              <a:t>Coastal </a:t>
            </a:r>
            <a:r>
              <a:rPr lang="en-US" sz="900" dirty="0">
                <a:solidFill>
                  <a:schemeClr val="tx1">
                    <a:lumMod val="50000"/>
                    <a:lumOff val="50000"/>
                  </a:schemeClr>
                </a:solidFill>
              </a:rPr>
              <a:t>flood, thunderstorm wind, and other storm types clustered around Boston</a:t>
            </a:r>
            <a:endParaRPr sz="900" b="0" i="0" dirty="0">
              <a:solidFill>
                <a:schemeClr val="tx1">
                  <a:lumMod val="50000"/>
                  <a:lumOff val="50000"/>
                </a:schemeClr>
              </a:solidFill>
              <a:latin typeface="Calibri"/>
            </a:endParaRPr>
          </a:p>
        </p:txBody>
      </p:sp>
      <p:sp>
        <p:nvSpPr>
          <p:cNvPr id="31" name="Rectangle 30"/>
          <p:cNvSpPr/>
          <p:nvPr/>
        </p:nvSpPr>
        <p:spPr>
          <a:xfrm>
            <a:off x="6903720" y="3822191"/>
            <a:ext cx="91440" cy="64008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59168" y="3753612"/>
            <a:ext cx="1920240" cy="256032"/>
          </a:xfrm>
          <a:prstGeom prst="rect">
            <a:avLst/>
          </a:prstGeom>
          <a:noFill/>
        </p:spPr>
        <p:txBody>
          <a:bodyPr wrap="square">
            <a:spAutoFit/>
          </a:bodyPr>
          <a:lstStyle/>
          <a:p>
            <a:pPr algn="l"/>
            <a:r>
              <a:rPr lang="en-US" sz="1000" b="1" i="0" dirty="0">
                <a:solidFill>
                  <a:srgbClr val="1A7A3C"/>
                </a:solidFill>
                <a:latin typeface="Calibri"/>
              </a:rPr>
              <a:t>Texas &amp; Houston:</a:t>
            </a:r>
            <a:endParaRPr sz="1000" b="1" i="0" dirty="0">
              <a:solidFill>
                <a:srgbClr val="1A7A3C"/>
              </a:solidFill>
              <a:latin typeface="Calibri"/>
            </a:endParaRPr>
          </a:p>
        </p:txBody>
      </p:sp>
      <p:sp>
        <p:nvSpPr>
          <p:cNvPr id="33" name="TextBox 32"/>
          <p:cNvSpPr txBox="1"/>
          <p:nvPr/>
        </p:nvSpPr>
        <p:spPr>
          <a:xfrm>
            <a:off x="7068312" y="3992169"/>
            <a:ext cx="1920240" cy="530915"/>
          </a:xfrm>
          <a:prstGeom prst="rect">
            <a:avLst/>
          </a:prstGeom>
          <a:noFill/>
        </p:spPr>
        <p:txBody>
          <a:bodyPr wrap="square">
            <a:spAutoFit/>
          </a:bodyPr>
          <a:lstStyle/>
          <a:p>
            <a:r>
              <a:rPr lang="en-US" sz="950" dirty="0">
                <a:solidFill>
                  <a:schemeClr val="tx1">
                    <a:lumMod val="50000"/>
                    <a:lumOff val="50000"/>
                  </a:schemeClr>
                </a:solidFill>
              </a:rPr>
              <a:t>Large damage events concentrated around Houston area : visible in Map 2</a:t>
            </a:r>
            <a:endParaRPr sz="950" b="0" i="0" dirty="0">
              <a:solidFill>
                <a:schemeClr val="tx1">
                  <a:lumMod val="50000"/>
                  <a:lumOff val="50000"/>
                </a:schemeClr>
              </a:solidFill>
              <a:latin typeface="Calibri"/>
            </a:endParaRPr>
          </a:p>
        </p:txBody>
      </p:sp>
      <mc:AlternateContent xmlns:mc="http://schemas.openxmlformats.org/markup-compatibility/2006" xmlns:pslz="http://schemas.microsoft.com/office/powerpoint/2016/slidezoom">
        <mc:Choice Requires="pslz">
          <p:graphicFrame>
            <p:nvGraphicFramePr>
              <p:cNvPr id="35" name="Slide Zoom 34">
                <a:extLst>
                  <a:ext uri="{FF2B5EF4-FFF2-40B4-BE49-F238E27FC236}">
                    <a16:creationId xmlns:a16="http://schemas.microsoft.com/office/drawing/2014/main" id="{188D86E1-E944-9C63-1471-10F0FA215B43}"/>
                  </a:ext>
                </a:extLst>
              </p:cNvPr>
              <p:cNvGraphicFramePr>
                <a:graphicFrameLocks noChangeAspect="1"/>
              </p:cNvGraphicFramePr>
              <p:nvPr>
                <p:extLst>
                  <p:ext uri="{D42A27DB-BD31-4B8C-83A1-F6EECF244321}">
                    <p14:modId xmlns:p14="http://schemas.microsoft.com/office/powerpoint/2010/main" val="3270942113"/>
                  </p:ext>
                </p:extLst>
              </p:nvPr>
            </p:nvGraphicFramePr>
            <p:xfrm>
              <a:off x="210312" y="768096"/>
              <a:ext cx="2743200" cy="1883663"/>
            </p:xfrm>
            <a:graphic>
              <a:graphicData uri="http://schemas.microsoft.com/office/powerpoint/2016/slidezoom">
                <pslz:sldZm>
                  <pslz:sldZmObj sldId="277" cId="1730531041">
                    <pslz:zmPr id="{200FA021-2E8D-42AB-828F-3D3389ED9D85}" transitionDur="1000">
                      <p166:blipFill xmlns:p166="http://schemas.microsoft.com/office/powerpoint/2016/6/main">
                        <a:blip r:embed="rId6"/>
                        <a:stretch>
                          <a:fillRect/>
                        </a:stretch>
                      </p166:blipFill>
                      <p166:spPr xmlns:p166="http://schemas.microsoft.com/office/powerpoint/2016/6/main">
                        <a:xfrm>
                          <a:off x="0" y="0"/>
                          <a:ext cx="2743200" cy="18836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166:spPr>
                    </pslz:zmPr>
                  </pslz:sldZmObj>
                </pslz:sldZm>
              </a:graphicData>
            </a:graphic>
          </p:graphicFrame>
        </mc:Choice>
        <mc:Fallback xmlns="">
          <p:pic>
            <p:nvPicPr>
              <p:cNvPr id="35" name="Slide Zoom 34">
                <a:hlinkClick r:id="rId7" action="ppaction://hlinksldjump"/>
                <a:extLst>
                  <a:ext uri="{FF2B5EF4-FFF2-40B4-BE49-F238E27FC236}">
                    <a16:creationId xmlns:a16="http://schemas.microsoft.com/office/drawing/2014/main" id="{188D86E1-E944-9C63-1471-10F0FA215B43}"/>
                  </a:ext>
                </a:extLst>
              </p:cNvPr>
              <p:cNvPicPr>
                <a:picLocks noGrp="1" noRot="1" noChangeAspect="1" noMove="1" noResize="1" noEditPoints="1" noAdjustHandles="1" noChangeArrowheads="1" noChangeShapeType="1"/>
              </p:cNvPicPr>
              <p:nvPr/>
            </p:nvPicPr>
            <p:blipFill>
              <a:blip r:embed="rId8"/>
              <a:stretch>
                <a:fillRect/>
              </a:stretch>
            </p:blipFill>
            <p:spPr>
              <a:xfrm>
                <a:off x="210312" y="768096"/>
                <a:ext cx="2743200" cy="18836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6" name="Slide Zoom 35">
                <a:extLst>
                  <a:ext uri="{FF2B5EF4-FFF2-40B4-BE49-F238E27FC236}">
                    <a16:creationId xmlns:a16="http://schemas.microsoft.com/office/drawing/2014/main" id="{CA43AE74-591B-69B5-49FE-A935DBAA69D5}"/>
                  </a:ext>
                </a:extLst>
              </p:cNvPr>
              <p:cNvGraphicFramePr>
                <a:graphicFrameLocks noChangeAspect="1"/>
              </p:cNvGraphicFramePr>
              <p:nvPr>
                <p:extLst>
                  <p:ext uri="{D42A27DB-BD31-4B8C-83A1-F6EECF244321}">
                    <p14:modId xmlns:p14="http://schemas.microsoft.com/office/powerpoint/2010/main" val="2479132585"/>
                  </p:ext>
                </p:extLst>
              </p:nvPr>
            </p:nvGraphicFramePr>
            <p:xfrm>
              <a:off x="3154680" y="741234"/>
              <a:ext cx="2743200" cy="1947102"/>
            </p:xfrm>
            <a:graphic>
              <a:graphicData uri="http://schemas.microsoft.com/office/powerpoint/2016/slidezoom">
                <pslz:sldZm>
                  <pslz:sldZmObj sldId="278" cId="3737542657">
                    <pslz:zmPr id="{039C1080-8979-4BE4-970F-49953C34888F}" returnToParent="0" transitionDur="1000">
                      <p166:blipFill xmlns:p166="http://schemas.microsoft.com/office/powerpoint/2016/6/main">
                        <a:blip r:embed="rId9"/>
                        <a:stretch>
                          <a:fillRect/>
                        </a:stretch>
                      </p166:blipFill>
                      <p166:spPr xmlns:p166="http://schemas.microsoft.com/office/powerpoint/2016/6/main">
                        <a:xfrm>
                          <a:off x="0" y="0"/>
                          <a:ext cx="2743200" cy="1947102"/>
                        </a:xfrm>
                        <a:prstGeom prst="rect">
                          <a:avLst/>
                        </a:prstGeom>
                        <a:ln w="3175">
                          <a:solidFill>
                            <a:prstClr val="ltGray"/>
                          </a:solidFill>
                        </a:ln>
                      </p166:spPr>
                    </pslz:zmPr>
                  </pslz:sldZmObj>
                </pslz:sldZm>
              </a:graphicData>
            </a:graphic>
          </p:graphicFrame>
        </mc:Choice>
        <mc:Fallback xmlns="">
          <p:pic>
            <p:nvPicPr>
              <p:cNvPr id="36" name="Slide Zoom 35">
                <a:hlinkClick r:id="rId10" action="ppaction://hlinksldjump"/>
                <a:extLst>
                  <a:ext uri="{FF2B5EF4-FFF2-40B4-BE49-F238E27FC236}">
                    <a16:creationId xmlns:a16="http://schemas.microsoft.com/office/drawing/2014/main" id="{CA43AE74-591B-69B5-49FE-A935DBAA69D5}"/>
                  </a:ext>
                </a:extLst>
              </p:cNvPr>
              <p:cNvPicPr>
                <a:picLocks noGrp="1" noRot="1" noChangeAspect="1" noMove="1" noResize="1" noEditPoints="1" noAdjustHandles="1" noChangeArrowheads="1" noChangeShapeType="1"/>
              </p:cNvPicPr>
              <p:nvPr/>
            </p:nvPicPr>
            <p:blipFill>
              <a:blip r:embed="rId11"/>
              <a:stretch>
                <a:fillRect/>
              </a:stretch>
            </p:blipFill>
            <p:spPr>
              <a:xfrm>
                <a:off x="3154680" y="741234"/>
                <a:ext cx="2743200" cy="194710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8" name="Slide Zoom 37">
                <a:extLst>
                  <a:ext uri="{FF2B5EF4-FFF2-40B4-BE49-F238E27FC236}">
                    <a16:creationId xmlns:a16="http://schemas.microsoft.com/office/drawing/2014/main" id="{4CDF5EFE-9B72-4BC4-B3C6-E31363D84D6E}"/>
                  </a:ext>
                </a:extLst>
              </p:cNvPr>
              <p:cNvGraphicFramePr>
                <a:graphicFrameLocks noChangeAspect="1"/>
              </p:cNvGraphicFramePr>
              <p:nvPr>
                <p:extLst>
                  <p:ext uri="{D42A27DB-BD31-4B8C-83A1-F6EECF244321}">
                    <p14:modId xmlns:p14="http://schemas.microsoft.com/office/powerpoint/2010/main" val="1935307103"/>
                  </p:ext>
                </p:extLst>
              </p:nvPr>
            </p:nvGraphicFramePr>
            <p:xfrm>
              <a:off x="6051550" y="758952"/>
              <a:ext cx="2898648" cy="1915096"/>
            </p:xfrm>
            <a:graphic>
              <a:graphicData uri="http://schemas.microsoft.com/office/powerpoint/2016/slidezoom">
                <pslz:sldZm>
                  <pslz:sldZmObj sldId="279" cId="3973756551">
                    <pslz:zmPr id="{FB0ADB27-5DDB-4E2D-A1E0-952F0A884B26}" returnToParent="0" transitionDur="1000">
                      <p166:blipFill xmlns:p166="http://schemas.microsoft.com/office/powerpoint/2016/6/main">
                        <a:blip r:embed="rId12"/>
                        <a:stretch>
                          <a:fillRect/>
                        </a:stretch>
                      </p166:blipFill>
                      <p166:spPr xmlns:p166="http://schemas.microsoft.com/office/powerpoint/2016/6/main">
                        <a:xfrm>
                          <a:off x="0" y="0"/>
                          <a:ext cx="2898648" cy="1915096"/>
                        </a:xfrm>
                        <a:prstGeom prst="rect">
                          <a:avLst/>
                        </a:prstGeom>
                        <a:ln w="3175">
                          <a:solidFill>
                            <a:prstClr val="ltGray"/>
                          </a:solidFill>
                        </a:ln>
                      </p166:spPr>
                    </pslz:zmPr>
                  </pslz:sldZmObj>
                </pslz:sldZm>
              </a:graphicData>
            </a:graphic>
          </p:graphicFrame>
        </mc:Choice>
        <mc:Fallback xmlns="">
          <p:pic>
            <p:nvPicPr>
              <p:cNvPr id="38" name="Slide Zoom 37">
                <a:hlinkClick r:id="rId13" action="ppaction://hlinksldjump"/>
                <a:extLst>
                  <a:ext uri="{FF2B5EF4-FFF2-40B4-BE49-F238E27FC236}">
                    <a16:creationId xmlns:a16="http://schemas.microsoft.com/office/drawing/2014/main" id="{4CDF5EFE-9B72-4BC4-B3C6-E31363D84D6E}"/>
                  </a:ext>
                </a:extLst>
              </p:cNvPr>
              <p:cNvPicPr>
                <a:picLocks noGrp="1" noRot="1" noChangeAspect="1" noMove="1" noResize="1" noEditPoints="1" noAdjustHandles="1" noChangeArrowheads="1" noChangeShapeType="1"/>
              </p:cNvPicPr>
              <p:nvPr/>
            </p:nvPicPr>
            <p:blipFill>
              <a:blip r:embed="rId14"/>
              <a:stretch>
                <a:fillRect/>
              </a:stretch>
            </p:blipFill>
            <p:spPr>
              <a:xfrm>
                <a:off x="6051550" y="758952"/>
                <a:ext cx="2898648" cy="1915096"/>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7F7F5"/>
        </a:solidFill>
        <a:effectLst/>
      </p:bgPr>
    </p:bg>
    <p:spTree>
      <p:nvGrpSpPr>
        <p:cNvPr id="1" name="">
          <a:extLst>
            <a:ext uri="{FF2B5EF4-FFF2-40B4-BE49-F238E27FC236}">
              <a16:creationId xmlns:a16="http://schemas.microsoft.com/office/drawing/2014/main" id="{13EBA87C-A00E-1834-19C1-8E1041D6A9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15D734-8AA8-144D-00CE-24550C827ED1}"/>
              </a:ext>
            </a:extLst>
          </p:cNvPr>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54D54B6-5C31-C6CC-CD6E-5D7B8DDB5E8A}"/>
              </a:ext>
            </a:extLst>
          </p:cNvPr>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E6E7F20-A304-FA81-FB5F-731C9A27167B}"/>
              </a:ext>
            </a:extLst>
          </p:cNvPr>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a:extLst>
              <a:ext uri="{FF2B5EF4-FFF2-40B4-BE49-F238E27FC236}">
                <a16:creationId xmlns:a16="http://schemas.microsoft.com/office/drawing/2014/main" id="{B9A82C35-5AF4-BB46-A47D-C2B1D6DA8A50}"/>
              </a:ext>
            </a:extLst>
          </p:cNvPr>
          <p:cNvSpPr txBox="1"/>
          <p:nvPr/>
        </p:nvSpPr>
        <p:spPr>
          <a:xfrm>
            <a:off x="786384" y="128016"/>
            <a:ext cx="8229600" cy="1000274"/>
          </a:xfrm>
          <a:prstGeom prst="rect">
            <a:avLst/>
          </a:prstGeom>
          <a:noFill/>
        </p:spPr>
        <p:txBody>
          <a:bodyPr wrap="square">
            <a:spAutoFit/>
          </a:bodyPr>
          <a:lstStyle/>
          <a:p>
            <a:r>
              <a:rPr lang="en-US" sz="2000" b="1" dirty="0">
                <a:solidFill>
                  <a:srgbClr val="F5A023"/>
                </a:solidFill>
              </a:rPr>
              <a:t>Map 1 — National Heatmap : </a:t>
            </a:r>
            <a:r>
              <a:rPr lang="en-US" sz="2000" dirty="0">
                <a:solidFill>
                  <a:srgbClr val="D6E4F7"/>
                </a:solidFill>
              </a:rPr>
              <a:t>Gulf Coast + Southeast glow brightest</a:t>
            </a:r>
          </a:p>
          <a:p>
            <a:endParaRPr lang="en-US" sz="2000" b="1" dirty="0">
              <a:solidFill>
                <a:srgbClr val="F5A023"/>
              </a:solidFill>
            </a:endParaRPr>
          </a:p>
          <a:p>
            <a:pPr algn="l"/>
            <a:endParaRPr lang="en-US" sz="1900" b="1" i="0" dirty="0">
              <a:solidFill>
                <a:srgbClr val="FFFFFF"/>
              </a:solidFill>
              <a:latin typeface="Calibri"/>
            </a:endParaRPr>
          </a:p>
        </p:txBody>
      </p:sp>
      <p:sp>
        <p:nvSpPr>
          <p:cNvPr id="6" name="Rectangle 5">
            <a:extLst>
              <a:ext uri="{FF2B5EF4-FFF2-40B4-BE49-F238E27FC236}">
                <a16:creationId xmlns:a16="http://schemas.microsoft.com/office/drawing/2014/main" id="{80EBCF7C-6EE6-F86F-E190-69F30B8DDED9}"/>
              </a:ext>
            </a:extLst>
          </p:cNvPr>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684474D-7A3F-A294-9438-3EE6800830B3}"/>
              </a:ext>
            </a:extLst>
          </p:cNvPr>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580205_image.png">
            <a:extLst>
              <a:ext uri="{FF2B5EF4-FFF2-40B4-BE49-F238E27FC236}">
                <a16:creationId xmlns:a16="http://schemas.microsoft.com/office/drawing/2014/main" id="{31883C93-AC8D-7BFE-965F-78F22E4249C0}"/>
              </a:ext>
            </a:extLst>
          </p:cNvPr>
          <p:cNvPicPr>
            <a:picLocks noChangeAspect="1"/>
          </p:cNvPicPr>
          <p:nvPr/>
        </p:nvPicPr>
        <p:blipFill>
          <a:blip r:embed="rId3"/>
          <a:stretch>
            <a:fillRect/>
          </a:stretch>
        </p:blipFill>
        <p:spPr>
          <a:xfrm>
            <a:off x="0" y="640080"/>
            <a:ext cx="9144000" cy="4325112"/>
          </a:xfrm>
          <a:prstGeom prst="rect">
            <a:avLst/>
          </a:prstGeom>
        </p:spPr>
      </p:pic>
    </p:spTree>
    <p:extLst>
      <p:ext uri="{BB962C8B-B14F-4D97-AF65-F5344CB8AC3E}">
        <p14:creationId xmlns:p14="http://schemas.microsoft.com/office/powerpoint/2010/main" val="17305310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7F7F5"/>
        </a:solidFill>
        <a:effectLst/>
      </p:bgPr>
    </p:bg>
    <p:spTree>
      <p:nvGrpSpPr>
        <p:cNvPr id="1" name="">
          <a:extLst>
            <a:ext uri="{FF2B5EF4-FFF2-40B4-BE49-F238E27FC236}">
              <a16:creationId xmlns:a16="http://schemas.microsoft.com/office/drawing/2014/main" id="{DB074BB1-776C-9F38-FF44-816B7B1F33E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1DD1CB-E010-0D28-C473-77B0A76C5640}"/>
              </a:ext>
            </a:extLst>
          </p:cNvPr>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FE9F82-CF29-A9E5-7A33-D35D822F5201}"/>
              </a:ext>
            </a:extLst>
          </p:cNvPr>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178418A-6EAC-AF8F-4C0E-64A4982FBC27}"/>
              </a:ext>
            </a:extLst>
          </p:cNvPr>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a:extLst>
              <a:ext uri="{FF2B5EF4-FFF2-40B4-BE49-F238E27FC236}">
                <a16:creationId xmlns:a16="http://schemas.microsoft.com/office/drawing/2014/main" id="{388E7A1A-997D-AD3E-7736-349F3E12A664}"/>
              </a:ext>
            </a:extLst>
          </p:cNvPr>
          <p:cNvSpPr txBox="1"/>
          <p:nvPr/>
        </p:nvSpPr>
        <p:spPr>
          <a:xfrm>
            <a:off x="786384" y="128016"/>
            <a:ext cx="8229600" cy="1000274"/>
          </a:xfrm>
          <a:prstGeom prst="rect">
            <a:avLst/>
          </a:prstGeom>
          <a:noFill/>
        </p:spPr>
        <p:txBody>
          <a:bodyPr wrap="square">
            <a:spAutoFit/>
          </a:bodyPr>
          <a:lstStyle/>
          <a:p>
            <a:r>
              <a:rPr lang="en-US" sz="2000" b="1" dirty="0">
                <a:solidFill>
                  <a:srgbClr val="F5A023"/>
                </a:solidFill>
              </a:rPr>
              <a:t>Map 2 — Top 500 Events</a:t>
            </a:r>
          </a:p>
          <a:p>
            <a:r>
              <a:rPr sz="2000" b="1" dirty="0">
                <a:solidFill>
                  <a:srgbClr val="F5A023"/>
                </a:solidFill>
              </a:rPr>
              <a:t> —</a:t>
            </a:r>
            <a:r>
              <a:rPr sz="1900" b="1" i="0" dirty="0">
                <a:solidFill>
                  <a:srgbClr val="FFFFFF"/>
                </a:solidFill>
                <a:latin typeface="Calibri"/>
              </a:rPr>
              <a:t> </a:t>
            </a:r>
            <a:endParaRPr lang="en-US" sz="2000" dirty="0">
              <a:solidFill>
                <a:srgbClr val="D6E4F7"/>
              </a:solidFill>
            </a:endParaRPr>
          </a:p>
          <a:p>
            <a:pPr algn="l"/>
            <a:endParaRPr sz="1900" b="1" i="0" dirty="0">
              <a:solidFill>
                <a:srgbClr val="FFFFFF"/>
              </a:solidFill>
              <a:latin typeface="Calibri"/>
            </a:endParaRPr>
          </a:p>
        </p:txBody>
      </p:sp>
      <p:sp>
        <p:nvSpPr>
          <p:cNvPr id="6" name="Rectangle 5">
            <a:extLst>
              <a:ext uri="{FF2B5EF4-FFF2-40B4-BE49-F238E27FC236}">
                <a16:creationId xmlns:a16="http://schemas.microsoft.com/office/drawing/2014/main" id="{B684BFEF-B873-1F9E-3210-339444D4FFF4}"/>
              </a:ext>
            </a:extLst>
          </p:cNvPr>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6D735F4-7660-5890-38D0-C8C4C791148D}"/>
              </a:ext>
            </a:extLst>
          </p:cNvPr>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580205_image.png">
            <a:extLst>
              <a:ext uri="{FF2B5EF4-FFF2-40B4-BE49-F238E27FC236}">
                <a16:creationId xmlns:a16="http://schemas.microsoft.com/office/drawing/2014/main" id="{390D8E81-C226-A091-F6BA-7EC5B589C988}"/>
              </a:ext>
            </a:extLst>
          </p:cNvPr>
          <p:cNvPicPr>
            <a:picLocks noChangeAspect="1"/>
          </p:cNvPicPr>
          <p:nvPr/>
        </p:nvPicPr>
        <p:blipFill>
          <a:blip r:embed="rId2"/>
          <a:stretch>
            <a:fillRect/>
          </a:stretch>
        </p:blipFill>
        <p:spPr>
          <a:xfrm>
            <a:off x="210312" y="731519"/>
            <a:ext cx="2743200" cy="1920240"/>
          </a:xfrm>
          <a:prstGeom prst="rect">
            <a:avLst/>
          </a:prstGeom>
        </p:spPr>
      </p:pic>
      <p:pic>
        <p:nvPicPr>
          <p:cNvPr id="9" name="Picture 8" descr="1775440602289_image.png">
            <a:extLst>
              <a:ext uri="{FF2B5EF4-FFF2-40B4-BE49-F238E27FC236}">
                <a16:creationId xmlns:a16="http://schemas.microsoft.com/office/drawing/2014/main" id="{51442F10-E227-28A7-8EFC-A3E0D03C06FC}"/>
              </a:ext>
            </a:extLst>
          </p:cNvPr>
          <p:cNvPicPr>
            <a:picLocks noChangeAspect="1"/>
          </p:cNvPicPr>
          <p:nvPr/>
        </p:nvPicPr>
        <p:blipFill>
          <a:blip r:embed="rId3"/>
          <a:stretch>
            <a:fillRect/>
          </a:stretch>
        </p:blipFill>
        <p:spPr>
          <a:xfrm>
            <a:off x="1" y="640080"/>
            <a:ext cx="9144000" cy="4325111"/>
          </a:xfrm>
          <a:prstGeom prst="rect">
            <a:avLst/>
          </a:prstGeom>
        </p:spPr>
      </p:pic>
      <p:sp>
        <p:nvSpPr>
          <p:cNvPr id="15" name="TextBox 14">
            <a:extLst>
              <a:ext uri="{FF2B5EF4-FFF2-40B4-BE49-F238E27FC236}">
                <a16:creationId xmlns:a16="http://schemas.microsoft.com/office/drawing/2014/main" id="{65494FA2-5646-65CD-9782-FDE9F62868D1}"/>
              </a:ext>
            </a:extLst>
          </p:cNvPr>
          <p:cNvSpPr txBox="1"/>
          <p:nvPr/>
        </p:nvSpPr>
        <p:spPr>
          <a:xfrm>
            <a:off x="3227832" y="2779776"/>
            <a:ext cx="2560320" cy="261610"/>
          </a:xfrm>
          <a:prstGeom prst="rect">
            <a:avLst/>
          </a:prstGeom>
          <a:noFill/>
        </p:spPr>
        <p:txBody>
          <a:bodyPr wrap="square">
            <a:spAutoFit/>
          </a:bodyPr>
          <a:lstStyle/>
          <a:p>
            <a:pPr algn="l"/>
            <a:endParaRPr sz="1100" b="1" i="0" dirty="0">
              <a:solidFill>
                <a:srgbClr val="F5A023"/>
              </a:solidFill>
              <a:latin typeface="Calibri"/>
            </a:endParaRPr>
          </a:p>
        </p:txBody>
      </p:sp>
      <p:sp>
        <p:nvSpPr>
          <p:cNvPr id="21" name="TextBox 20">
            <a:extLst>
              <a:ext uri="{FF2B5EF4-FFF2-40B4-BE49-F238E27FC236}">
                <a16:creationId xmlns:a16="http://schemas.microsoft.com/office/drawing/2014/main" id="{54065399-22F2-84B4-A9B8-028CB69AF323}"/>
              </a:ext>
            </a:extLst>
          </p:cNvPr>
          <p:cNvSpPr txBox="1"/>
          <p:nvPr/>
        </p:nvSpPr>
        <p:spPr>
          <a:xfrm>
            <a:off x="457200" y="3474720"/>
            <a:ext cx="8229600" cy="274320"/>
          </a:xfrm>
          <a:prstGeom prst="rect">
            <a:avLst/>
          </a:prstGeom>
          <a:noFill/>
        </p:spPr>
        <p:txBody>
          <a:bodyPr wrap="square">
            <a:spAutoFit/>
          </a:bodyPr>
          <a:lstStyle/>
          <a:p>
            <a:pPr algn="l"/>
            <a:r>
              <a:rPr sz="1200" b="1" i="0">
                <a:solidFill>
                  <a:srgbClr val="1F3B70"/>
                </a:solidFill>
                <a:latin typeface="Calibri"/>
              </a:rPr>
              <a:t>Key Geographic Findings</a:t>
            </a:r>
          </a:p>
        </p:txBody>
      </p:sp>
      <p:sp>
        <p:nvSpPr>
          <p:cNvPr id="26" name="TextBox 25">
            <a:extLst>
              <a:ext uri="{FF2B5EF4-FFF2-40B4-BE49-F238E27FC236}">
                <a16:creationId xmlns:a16="http://schemas.microsoft.com/office/drawing/2014/main" id="{6EB6DE3D-8FB3-D41F-C70D-FFDF7BCA8A66}"/>
              </a:ext>
            </a:extLst>
          </p:cNvPr>
          <p:cNvSpPr txBox="1"/>
          <p:nvPr/>
        </p:nvSpPr>
        <p:spPr>
          <a:xfrm>
            <a:off x="2770632" y="3822191"/>
            <a:ext cx="1920240" cy="256032"/>
          </a:xfrm>
          <a:prstGeom prst="rect">
            <a:avLst/>
          </a:prstGeom>
          <a:noFill/>
        </p:spPr>
        <p:txBody>
          <a:bodyPr wrap="square">
            <a:spAutoFit/>
          </a:bodyPr>
          <a:lstStyle/>
          <a:p>
            <a:pPr algn="l"/>
            <a:r>
              <a:rPr sz="1000" b="1" i="0">
                <a:solidFill>
                  <a:srgbClr val="2F5FC0"/>
                </a:solidFill>
                <a:latin typeface="Calibri"/>
              </a:rPr>
              <a:t>Tornado Alley</a:t>
            </a:r>
          </a:p>
        </p:txBody>
      </p:sp>
      <p:sp>
        <p:nvSpPr>
          <p:cNvPr id="27" name="TextBox 26">
            <a:extLst>
              <a:ext uri="{FF2B5EF4-FFF2-40B4-BE49-F238E27FC236}">
                <a16:creationId xmlns:a16="http://schemas.microsoft.com/office/drawing/2014/main" id="{48F10BB2-00D6-13E6-282A-F25F484EDB7E}"/>
              </a:ext>
            </a:extLst>
          </p:cNvPr>
          <p:cNvSpPr txBox="1"/>
          <p:nvPr/>
        </p:nvSpPr>
        <p:spPr>
          <a:xfrm>
            <a:off x="2770632" y="4078224"/>
            <a:ext cx="1920240" cy="384721"/>
          </a:xfrm>
          <a:prstGeom prst="rect">
            <a:avLst/>
          </a:prstGeom>
          <a:noFill/>
        </p:spPr>
        <p:txBody>
          <a:bodyPr wrap="square">
            <a:spAutoFit/>
          </a:bodyPr>
          <a:lstStyle/>
          <a:p>
            <a:pPr algn="l"/>
            <a:r>
              <a:rPr sz="950" b="0" i="0" dirty="0">
                <a:solidFill>
                  <a:srgbClr val="3A3A3A"/>
                </a:solidFill>
                <a:latin typeface="Calibri"/>
              </a:rPr>
              <a:t>Oklahoma, Kansas, Nebraska </a:t>
            </a:r>
            <a:r>
              <a:rPr lang="en-US" sz="950" b="0" i="0" dirty="0">
                <a:solidFill>
                  <a:srgbClr val="3A3A3A"/>
                </a:solidFill>
                <a:latin typeface="Calibri"/>
              </a:rPr>
              <a:t>:</a:t>
            </a:r>
            <a:r>
              <a:rPr sz="950" b="0" i="0" dirty="0">
                <a:solidFill>
                  <a:srgbClr val="3A3A3A"/>
                </a:solidFill>
                <a:latin typeface="Calibri"/>
              </a:rPr>
              <a:t> high event frequency</a:t>
            </a:r>
          </a:p>
        </p:txBody>
      </p:sp>
    </p:spTree>
    <p:extLst>
      <p:ext uri="{BB962C8B-B14F-4D97-AF65-F5344CB8AC3E}">
        <p14:creationId xmlns:p14="http://schemas.microsoft.com/office/powerpoint/2010/main" val="373754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7F5"/>
        </a:solidFill>
        <a:effectLst/>
      </p:bgPr>
    </p:bg>
    <p:spTree>
      <p:nvGrpSpPr>
        <p:cNvPr id="1" name="">
          <a:extLst>
            <a:ext uri="{FF2B5EF4-FFF2-40B4-BE49-F238E27FC236}">
              <a16:creationId xmlns:a16="http://schemas.microsoft.com/office/drawing/2014/main" id="{6C54389C-9935-93E6-FF57-FBAA1AA526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A581EA-79BD-918B-D8A4-0D463793A3C1}"/>
              </a:ext>
            </a:extLst>
          </p:cNvPr>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469E58A-C939-DAEF-7222-EC3A05AA1E50}"/>
              </a:ext>
            </a:extLst>
          </p:cNvPr>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99734D8-8C8F-2C7C-BB44-806AAD2E5520}"/>
              </a:ext>
            </a:extLst>
          </p:cNvPr>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03</a:t>
            </a:r>
          </a:p>
        </p:txBody>
      </p:sp>
      <p:sp>
        <p:nvSpPr>
          <p:cNvPr id="5" name="TextBox 4">
            <a:extLst>
              <a:ext uri="{FF2B5EF4-FFF2-40B4-BE49-F238E27FC236}">
                <a16:creationId xmlns:a16="http://schemas.microsoft.com/office/drawing/2014/main" id="{7485E679-26C4-9A48-70E2-4D302C037C52}"/>
              </a:ext>
            </a:extLst>
          </p:cNvPr>
          <p:cNvSpPr txBox="1"/>
          <p:nvPr/>
        </p:nvSpPr>
        <p:spPr>
          <a:xfrm>
            <a:off x="786384" y="128016"/>
            <a:ext cx="8229600" cy="1000274"/>
          </a:xfrm>
          <a:prstGeom prst="rect">
            <a:avLst/>
          </a:prstGeom>
          <a:noFill/>
        </p:spPr>
        <p:txBody>
          <a:bodyPr wrap="square">
            <a:spAutoFit/>
          </a:bodyPr>
          <a:lstStyle/>
          <a:p>
            <a:r>
              <a:rPr lang="en-US" sz="2000" b="1" dirty="0">
                <a:solidFill>
                  <a:srgbClr val="F5A023"/>
                </a:solidFill>
              </a:rPr>
              <a:t>Map 3 — Boston Focus : </a:t>
            </a:r>
            <a:r>
              <a:rPr lang="en-US" sz="2000" dirty="0">
                <a:solidFill>
                  <a:srgbClr val="D6E4F7"/>
                </a:solidFill>
              </a:rPr>
              <a:t>★ Suffolk University · triple hazard</a:t>
            </a:r>
            <a:endParaRPr lang="en-US" sz="2000" b="1" dirty="0">
              <a:solidFill>
                <a:srgbClr val="F5A023"/>
              </a:solidFill>
            </a:endParaRPr>
          </a:p>
          <a:p>
            <a:r>
              <a:rPr sz="2000" b="1" dirty="0">
                <a:solidFill>
                  <a:srgbClr val="F5A023"/>
                </a:solidFill>
              </a:rPr>
              <a:t> —</a:t>
            </a:r>
            <a:r>
              <a:rPr sz="1900" b="1" i="0" dirty="0">
                <a:solidFill>
                  <a:srgbClr val="FFFFFF"/>
                </a:solidFill>
                <a:latin typeface="Calibri"/>
              </a:rPr>
              <a:t> </a:t>
            </a:r>
            <a:endParaRPr lang="en-US" sz="2000" dirty="0">
              <a:solidFill>
                <a:srgbClr val="D6E4F7"/>
              </a:solidFill>
            </a:endParaRPr>
          </a:p>
          <a:p>
            <a:pPr algn="l"/>
            <a:endParaRPr sz="1900" b="1" i="0" dirty="0">
              <a:solidFill>
                <a:srgbClr val="FFFFFF"/>
              </a:solidFill>
              <a:latin typeface="Calibri"/>
            </a:endParaRPr>
          </a:p>
        </p:txBody>
      </p:sp>
      <p:sp>
        <p:nvSpPr>
          <p:cNvPr id="6" name="Rectangle 5">
            <a:extLst>
              <a:ext uri="{FF2B5EF4-FFF2-40B4-BE49-F238E27FC236}">
                <a16:creationId xmlns:a16="http://schemas.microsoft.com/office/drawing/2014/main" id="{208FB327-59D7-49A9-E5DB-B8E04AA0668E}"/>
              </a:ext>
            </a:extLst>
          </p:cNvPr>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57DF87C-0E82-DAE9-5C4F-954C850B2867}"/>
              </a:ext>
            </a:extLst>
          </p:cNvPr>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sp>
        <p:nvSpPr>
          <p:cNvPr id="15" name="TextBox 14">
            <a:extLst>
              <a:ext uri="{FF2B5EF4-FFF2-40B4-BE49-F238E27FC236}">
                <a16:creationId xmlns:a16="http://schemas.microsoft.com/office/drawing/2014/main" id="{02E0BC4B-53CB-E075-DC84-AB76B204C869}"/>
              </a:ext>
            </a:extLst>
          </p:cNvPr>
          <p:cNvSpPr txBox="1"/>
          <p:nvPr/>
        </p:nvSpPr>
        <p:spPr>
          <a:xfrm>
            <a:off x="3227832" y="2779776"/>
            <a:ext cx="2560320" cy="261610"/>
          </a:xfrm>
          <a:prstGeom prst="rect">
            <a:avLst/>
          </a:prstGeom>
          <a:noFill/>
        </p:spPr>
        <p:txBody>
          <a:bodyPr wrap="square">
            <a:spAutoFit/>
          </a:bodyPr>
          <a:lstStyle/>
          <a:p>
            <a:pPr algn="l"/>
            <a:endParaRPr sz="1100" b="1" i="0" dirty="0">
              <a:solidFill>
                <a:srgbClr val="F5A023"/>
              </a:solidFill>
              <a:latin typeface="Calibri"/>
            </a:endParaRPr>
          </a:p>
        </p:txBody>
      </p:sp>
      <p:pic>
        <p:nvPicPr>
          <p:cNvPr id="10" name="Picture 9" descr="1775440649735_image.png">
            <a:extLst>
              <a:ext uri="{FF2B5EF4-FFF2-40B4-BE49-F238E27FC236}">
                <a16:creationId xmlns:a16="http://schemas.microsoft.com/office/drawing/2014/main" id="{4264D313-50B0-9CC3-F288-FC1B7248ACF9}"/>
              </a:ext>
            </a:extLst>
          </p:cNvPr>
          <p:cNvPicPr>
            <a:picLocks noChangeAspect="1"/>
          </p:cNvPicPr>
          <p:nvPr/>
        </p:nvPicPr>
        <p:blipFill>
          <a:blip r:embed="rId2"/>
          <a:stretch>
            <a:fillRect/>
          </a:stretch>
        </p:blipFill>
        <p:spPr>
          <a:xfrm>
            <a:off x="0" y="649224"/>
            <a:ext cx="9144000" cy="4306824"/>
          </a:xfrm>
          <a:prstGeom prst="rect">
            <a:avLst/>
          </a:prstGeom>
        </p:spPr>
      </p:pic>
    </p:spTree>
    <p:extLst>
      <p:ext uri="{BB962C8B-B14F-4D97-AF65-F5344CB8AC3E}">
        <p14:creationId xmlns:p14="http://schemas.microsoft.com/office/powerpoint/2010/main" val="39737565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bg1">
                    <a:lumMod val="50000"/>
                  </a:schemeClr>
                </a:solidFill>
                <a:latin typeface="Calibri"/>
              </a:rPr>
              <a:t>04</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a:solidFill>
                  <a:srgbClr val="1F3B70"/>
                </a:solidFill>
                <a:latin typeface="Calibri"/>
              </a:rPr>
              <a:t>Two-Stage Model</a:t>
            </a:r>
          </a:p>
        </p:txBody>
      </p:sp>
      <p:sp>
        <p:nvSpPr>
          <p:cNvPr id="6" name="TextBox 5"/>
          <p:cNvSpPr txBox="1"/>
          <p:nvPr/>
        </p:nvSpPr>
        <p:spPr>
          <a:xfrm>
            <a:off x="2011680" y="3401568"/>
            <a:ext cx="5120640" cy="347472"/>
          </a:xfrm>
          <a:prstGeom prst="rect">
            <a:avLst/>
          </a:prstGeom>
          <a:noFill/>
        </p:spPr>
        <p:txBody>
          <a:bodyPr wrap="square">
            <a:spAutoFit/>
          </a:bodyPr>
          <a:lstStyle/>
          <a:p>
            <a:pPr algn="ctr"/>
            <a:r>
              <a:rPr sz="1300" b="0" i="0">
                <a:solidFill>
                  <a:srgbClr val="787C8A"/>
                </a:solidFill>
                <a:latin typeface="Calibri"/>
              </a:rPr>
              <a:t>Feature engineering · Model architecture · Zero-inflation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04</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Two-Stage Approach — Solving the Zero-Inflation Problem</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sp>
        <p:nvSpPr>
          <p:cNvPr id="8" name="Rectangle 7"/>
          <p:cNvSpPr/>
          <p:nvPr/>
        </p:nvSpPr>
        <p:spPr>
          <a:xfrm>
            <a:off x="365760" y="804672"/>
            <a:ext cx="3291840" cy="1719072"/>
          </a:xfrm>
          <a:prstGeom prst="rect">
            <a:avLst/>
          </a:prstGeom>
          <a:solidFill>
            <a:srgbClr val="EBF2FF"/>
          </a:solidFill>
          <a:ln w="15240">
            <a:solidFill>
              <a:srgbClr val="F5A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868680"/>
            <a:ext cx="3017520" cy="822960"/>
          </a:xfrm>
          <a:prstGeom prst="rect">
            <a:avLst/>
          </a:prstGeom>
          <a:noFill/>
        </p:spPr>
        <p:txBody>
          <a:bodyPr wrap="square">
            <a:spAutoFit/>
          </a:bodyPr>
          <a:lstStyle/>
          <a:p>
            <a:pPr algn="ctr"/>
            <a:r>
              <a:rPr sz="5400" b="1" i="0">
                <a:solidFill>
                  <a:srgbClr val="F5A023"/>
                </a:solidFill>
                <a:latin typeface="Calibri"/>
              </a:rPr>
              <a:t>73.7%</a:t>
            </a:r>
          </a:p>
        </p:txBody>
      </p:sp>
      <p:sp>
        <p:nvSpPr>
          <p:cNvPr id="10" name="TextBox 9"/>
          <p:cNvSpPr txBox="1"/>
          <p:nvPr/>
        </p:nvSpPr>
        <p:spPr>
          <a:xfrm>
            <a:off x="502920" y="1645920"/>
            <a:ext cx="3017520" cy="640080"/>
          </a:xfrm>
          <a:prstGeom prst="rect">
            <a:avLst/>
          </a:prstGeom>
          <a:noFill/>
        </p:spPr>
        <p:txBody>
          <a:bodyPr wrap="square">
            <a:spAutoFit/>
          </a:bodyPr>
          <a:lstStyle/>
          <a:p>
            <a:pPr algn="ctr"/>
            <a:r>
              <a:rPr sz="1100" b="1" i="0">
                <a:solidFill>
                  <a:srgbClr val="1F3B70"/>
                </a:solidFill>
                <a:latin typeface="Calibri"/>
              </a:rPr>
              <a:t>of storms → ZERO damage
plain regression fails here</a:t>
            </a:r>
          </a:p>
        </p:txBody>
      </p:sp>
      <p:sp>
        <p:nvSpPr>
          <p:cNvPr id="11" name="Rectangle 10"/>
          <p:cNvSpPr/>
          <p:nvPr/>
        </p:nvSpPr>
        <p:spPr>
          <a:xfrm>
            <a:off x="3840480" y="804672"/>
            <a:ext cx="2468880" cy="1828800"/>
          </a:xfrm>
          <a:prstGeom prst="rect">
            <a:avLst/>
          </a:prstGeom>
          <a:solidFill>
            <a:srgbClr val="EBF2FF"/>
          </a:solidFill>
          <a:ln w="1270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40480" y="804672"/>
            <a:ext cx="2468880" cy="38404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31920" y="822960"/>
            <a:ext cx="2286000" cy="329184"/>
          </a:xfrm>
          <a:prstGeom prst="rect">
            <a:avLst/>
          </a:prstGeom>
          <a:noFill/>
        </p:spPr>
        <p:txBody>
          <a:bodyPr wrap="square">
            <a:spAutoFit/>
          </a:bodyPr>
          <a:lstStyle/>
          <a:p>
            <a:pPr algn="l"/>
            <a:r>
              <a:rPr sz="1100" b="1" i="0">
                <a:solidFill>
                  <a:srgbClr val="FFFFFF"/>
                </a:solidFill>
                <a:latin typeface="Calibri"/>
              </a:rPr>
              <a:t>Stage 1 — Classification</a:t>
            </a:r>
          </a:p>
        </p:txBody>
      </p:sp>
      <p:sp>
        <p:nvSpPr>
          <p:cNvPr id="14" name="TextBox 13"/>
          <p:cNvSpPr txBox="1"/>
          <p:nvPr/>
        </p:nvSpPr>
        <p:spPr>
          <a:xfrm>
            <a:off x="3931920" y="1298448"/>
            <a:ext cx="2286000" cy="329184"/>
          </a:xfrm>
          <a:prstGeom prst="rect">
            <a:avLst/>
          </a:prstGeom>
          <a:noFill/>
        </p:spPr>
        <p:txBody>
          <a:bodyPr wrap="square">
            <a:spAutoFit/>
          </a:bodyPr>
          <a:lstStyle/>
          <a:p>
            <a:pPr algn="l"/>
            <a:r>
              <a:rPr sz="1100" b="1" i="0">
                <a:solidFill>
                  <a:srgbClr val="2F5FC0"/>
                </a:solidFill>
                <a:latin typeface="Calibri"/>
              </a:rPr>
              <a:t>Which characteristics make damage more likely?</a:t>
            </a:r>
          </a:p>
        </p:txBody>
      </p:sp>
      <p:sp>
        <p:nvSpPr>
          <p:cNvPr id="15" name="TextBox 14"/>
          <p:cNvSpPr txBox="1"/>
          <p:nvPr/>
        </p:nvSpPr>
        <p:spPr>
          <a:xfrm>
            <a:off x="3931920" y="1664208"/>
            <a:ext cx="2286000" cy="256032"/>
          </a:xfrm>
          <a:prstGeom prst="rect">
            <a:avLst/>
          </a:prstGeom>
          <a:noFill/>
        </p:spPr>
        <p:txBody>
          <a:bodyPr wrap="square">
            <a:spAutoFit/>
          </a:bodyPr>
          <a:lstStyle/>
          <a:p>
            <a:pPr algn="l"/>
            <a:r>
              <a:rPr sz="1000" b="0" i="1" dirty="0">
                <a:solidFill>
                  <a:srgbClr val="3A3A3A"/>
                </a:solidFill>
                <a:latin typeface="Calibri"/>
              </a:rPr>
              <a:t>ALL 283,155 rows </a:t>
            </a:r>
          </a:p>
        </p:txBody>
      </p:sp>
      <p:sp>
        <p:nvSpPr>
          <p:cNvPr id="16" name="TextBox 15"/>
          <p:cNvSpPr txBox="1"/>
          <p:nvPr/>
        </p:nvSpPr>
        <p:spPr>
          <a:xfrm>
            <a:off x="3931920" y="1938528"/>
            <a:ext cx="2286000" cy="246221"/>
          </a:xfrm>
          <a:prstGeom prst="rect">
            <a:avLst/>
          </a:prstGeom>
          <a:noFill/>
        </p:spPr>
        <p:txBody>
          <a:bodyPr wrap="square">
            <a:spAutoFit/>
          </a:bodyPr>
          <a:lstStyle/>
          <a:p>
            <a:pPr algn="l"/>
            <a:r>
              <a:rPr sz="1000" b="1" i="0" dirty="0">
                <a:solidFill>
                  <a:srgbClr val="2F5FC0"/>
                </a:solidFill>
                <a:latin typeface="Calibri"/>
              </a:rPr>
              <a:t>Accuracy 92.</a:t>
            </a:r>
            <a:r>
              <a:rPr lang="en-US" sz="1000" b="1" i="0" dirty="0">
                <a:solidFill>
                  <a:srgbClr val="2F5FC0"/>
                </a:solidFill>
                <a:latin typeface="Calibri"/>
              </a:rPr>
              <a:t>2</a:t>
            </a:r>
            <a:r>
              <a:rPr sz="1000" b="1" i="0" dirty="0">
                <a:solidFill>
                  <a:srgbClr val="2F5FC0"/>
                </a:solidFill>
                <a:latin typeface="Calibri"/>
              </a:rPr>
              <a:t>%  ·  AUC 0.9705</a:t>
            </a:r>
          </a:p>
        </p:txBody>
      </p:sp>
      <p:sp>
        <p:nvSpPr>
          <p:cNvPr id="17" name="Rectangle 16"/>
          <p:cNvSpPr/>
          <p:nvPr/>
        </p:nvSpPr>
        <p:spPr>
          <a:xfrm>
            <a:off x="6492240" y="804672"/>
            <a:ext cx="2468880" cy="1828800"/>
          </a:xfrm>
          <a:prstGeom prst="rect">
            <a:avLst/>
          </a:prstGeom>
          <a:solidFill>
            <a:srgbClr val="EBF2FF"/>
          </a:solidFill>
          <a:ln w="1270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92240" y="804672"/>
            <a:ext cx="2468880" cy="38404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0" y="822960"/>
            <a:ext cx="2286000" cy="329184"/>
          </a:xfrm>
          <a:prstGeom prst="rect">
            <a:avLst/>
          </a:prstGeom>
          <a:noFill/>
        </p:spPr>
        <p:txBody>
          <a:bodyPr wrap="square">
            <a:spAutoFit/>
          </a:bodyPr>
          <a:lstStyle/>
          <a:p>
            <a:pPr algn="l"/>
            <a:r>
              <a:rPr sz="1100" b="1" i="0">
                <a:solidFill>
                  <a:srgbClr val="FFFFFF"/>
                </a:solidFill>
                <a:latin typeface="Calibri"/>
              </a:rPr>
              <a:t>Stage 2 — Regression</a:t>
            </a:r>
          </a:p>
        </p:txBody>
      </p:sp>
      <p:sp>
        <p:nvSpPr>
          <p:cNvPr id="20" name="TextBox 19"/>
          <p:cNvSpPr txBox="1"/>
          <p:nvPr/>
        </p:nvSpPr>
        <p:spPr>
          <a:xfrm>
            <a:off x="6583680" y="1298448"/>
            <a:ext cx="2286000" cy="329184"/>
          </a:xfrm>
          <a:prstGeom prst="rect">
            <a:avLst/>
          </a:prstGeom>
          <a:noFill/>
        </p:spPr>
        <p:txBody>
          <a:bodyPr wrap="square">
            <a:spAutoFit/>
          </a:bodyPr>
          <a:lstStyle/>
          <a:p>
            <a:pPr algn="l"/>
            <a:r>
              <a:rPr sz="1100" b="1" i="0">
                <a:solidFill>
                  <a:srgbClr val="1F3B70"/>
                </a:solidFill>
                <a:latin typeface="Calibri"/>
              </a:rPr>
              <a:t>How many dollars of damage?</a:t>
            </a:r>
          </a:p>
        </p:txBody>
      </p:sp>
      <p:sp>
        <p:nvSpPr>
          <p:cNvPr id="21" name="TextBox 20"/>
          <p:cNvSpPr txBox="1"/>
          <p:nvPr/>
        </p:nvSpPr>
        <p:spPr>
          <a:xfrm>
            <a:off x="6583680" y="1664208"/>
            <a:ext cx="2286000" cy="256032"/>
          </a:xfrm>
          <a:prstGeom prst="rect">
            <a:avLst/>
          </a:prstGeom>
          <a:noFill/>
        </p:spPr>
        <p:txBody>
          <a:bodyPr wrap="square">
            <a:spAutoFit/>
          </a:bodyPr>
          <a:lstStyle/>
          <a:p>
            <a:pPr algn="l"/>
            <a:r>
              <a:rPr sz="1000" b="0" i="1">
                <a:solidFill>
                  <a:srgbClr val="3A3A3A"/>
                </a:solidFill>
                <a:latin typeface="Calibri"/>
              </a:rPr>
              <a:t>74,514 rows only (damage &gt; $0)</a:t>
            </a:r>
          </a:p>
        </p:txBody>
      </p:sp>
      <p:sp>
        <p:nvSpPr>
          <p:cNvPr id="22" name="TextBox 21"/>
          <p:cNvSpPr txBox="1"/>
          <p:nvPr/>
        </p:nvSpPr>
        <p:spPr>
          <a:xfrm>
            <a:off x="6583680" y="1938528"/>
            <a:ext cx="2286000" cy="475488"/>
          </a:xfrm>
          <a:prstGeom prst="rect">
            <a:avLst/>
          </a:prstGeom>
          <a:noFill/>
        </p:spPr>
        <p:txBody>
          <a:bodyPr wrap="square">
            <a:spAutoFit/>
          </a:bodyPr>
          <a:lstStyle/>
          <a:p>
            <a:pPr algn="l"/>
            <a:r>
              <a:rPr sz="1000" b="1" i="0">
                <a:solidFill>
                  <a:srgbClr val="1F3B70"/>
                </a:solidFill>
                <a:latin typeface="Calibri"/>
              </a:rPr>
              <a:t>R² = 0.653  ·  RMSE 1.2194</a:t>
            </a:r>
          </a:p>
        </p:txBody>
      </p:sp>
      <p:sp>
        <p:nvSpPr>
          <p:cNvPr id="23" name="Rectangle 22"/>
          <p:cNvSpPr/>
          <p:nvPr/>
        </p:nvSpPr>
        <p:spPr>
          <a:xfrm>
            <a:off x="365760" y="2788920"/>
            <a:ext cx="8503920" cy="2011680"/>
          </a:xfrm>
          <a:prstGeom prst="rect">
            <a:avLst/>
          </a:prstGeom>
          <a:solidFill>
            <a:srgbClr val="FFFFFF"/>
          </a:solidFill>
          <a:ln w="635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834640"/>
            <a:ext cx="8229600" cy="274320"/>
          </a:xfrm>
          <a:prstGeom prst="rect">
            <a:avLst/>
          </a:prstGeom>
          <a:noFill/>
        </p:spPr>
        <p:txBody>
          <a:bodyPr wrap="square">
            <a:spAutoFit/>
          </a:bodyPr>
          <a:lstStyle/>
          <a:p>
            <a:pPr algn="l"/>
            <a:r>
              <a:rPr sz="1200" b="1" i="0" dirty="0">
                <a:solidFill>
                  <a:srgbClr val="1F3B70"/>
                </a:solidFill>
                <a:latin typeface="Calibri"/>
              </a:rPr>
              <a:t>24 Features </a:t>
            </a:r>
            <a:r>
              <a:rPr lang="en-US" sz="1200" b="1" i="0" dirty="0">
                <a:solidFill>
                  <a:srgbClr val="1F3B70"/>
                </a:solidFill>
                <a:latin typeface="Calibri"/>
              </a:rPr>
              <a:t>:</a:t>
            </a:r>
            <a:r>
              <a:rPr sz="1200" b="1" i="0" dirty="0">
                <a:solidFill>
                  <a:srgbClr val="1F3B70"/>
                </a:solidFill>
                <a:latin typeface="Calibri"/>
              </a:rPr>
              <a:t> Including 6 We Built From Scratch</a:t>
            </a:r>
          </a:p>
        </p:txBody>
      </p:sp>
      <p:sp>
        <p:nvSpPr>
          <p:cNvPr id="25" name="Rectangle 24"/>
          <p:cNvSpPr/>
          <p:nvPr/>
        </p:nvSpPr>
        <p:spPr>
          <a:xfrm>
            <a:off x="502920" y="3200400"/>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 y="3200400"/>
            <a:ext cx="1417320" cy="256032"/>
          </a:xfrm>
          <a:prstGeom prst="rect">
            <a:avLst/>
          </a:prstGeom>
          <a:noFill/>
        </p:spPr>
        <p:txBody>
          <a:bodyPr wrap="square">
            <a:spAutoFit/>
          </a:bodyPr>
          <a:lstStyle/>
          <a:p>
            <a:pPr algn="l"/>
            <a:r>
              <a:rPr sz="1000" b="1" i="0" dirty="0">
                <a:solidFill>
                  <a:srgbClr val="1F3B70"/>
                </a:solidFill>
                <a:latin typeface="Calibri"/>
              </a:rPr>
              <a:t>event_severity_score</a:t>
            </a:r>
          </a:p>
        </p:txBody>
      </p:sp>
      <p:sp>
        <p:nvSpPr>
          <p:cNvPr id="27" name="TextBox 26"/>
          <p:cNvSpPr txBox="1"/>
          <p:nvPr/>
        </p:nvSpPr>
        <p:spPr>
          <a:xfrm>
            <a:off x="658368" y="3428774"/>
            <a:ext cx="2560320" cy="369332"/>
          </a:xfrm>
          <a:prstGeom prst="rect">
            <a:avLst/>
          </a:prstGeom>
          <a:noFill/>
        </p:spPr>
        <p:txBody>
          <a:bodyPr wrap="square">
            <a:spAutoFit/>
          </a:bodyPr>
          <a:lstStyle/>
          <a:p>
            <a:r>
              <a:rPr lang="en-US" sz="900" b="1" i="1" dirty="0">
                <a:solidFill>
                  <a:srgbClr val="2F5FC0"/>
                </a:solidFill>
                <a:latin typeface="Calibri"/>
              </a:rPr>
              <a:t>Storm danger score : ranked 1 to 10 by destructive potential</a:t>
            </a:r>
            <a:endParaRPr sz="900" b="1" i="1" dirty="0">
              <a:solidFill>
                <a:srgbClr val="2F5FC0"/>
              </a:solidFill>
              <a:latin typeface="Calibri"/>
            </a:endParaRPr>
          </a:p>
        </p:txBody>
      </p:sp>
      <p:sp>
        <p:nvSpPr>
          <p:cNvPr id="28" name="Rectangle 27"/>
          <p:cNvSpPr/>
          <p:nvPr/>
        </p:nvSpPr>
        <p:spPr>
          <a:xfrm>
            <a:off x="3337560" y="3200400"/>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83864" y="3200400"/>
            <a:ext cx="1417320" cy="256032"/>
          </a:xfrm>
          <a:prstGeom prst="rect">
            <a:avLst/>
          </a:prstGeom>
          <a:noFill/>
        </p:spPr>
        <p:txBody>
          <a:bodyPr wrap="square">
            <a:spAutoFit/>
          </a:bodyPr>
          <a:lstStyle/>
          <a:p>
            <a:pPr algn="l"/>
            <a:r>
              <a:rPr sz="1000" b="1" i="0">
                <a:solidFill>
                  <a:srgbClr val="1F3B70"/>
                </a:solidFill>
                <a:latin typeface="Calibri"/>
              </a:rPr>
              <a:t>is_coastal</a:t>
            </a:r>
          </a:p>
        </p:txBody>
      </p:sp>
      <p:sp>
        <p:nvSpPr>
          <p:cNvPr id="30" name="TextBox 29"/>
          <p:cNvSpPr txBox="1"/>
          <p:nvPr/>
        </p:nvSpPr>
        <p:spPr>
          <a:xfrm>
            <a:off x="3483864" y="3456432"/>
            <a:ext cx="2560320" cy="369332"/>
          </a:xfrm>
          <a:prstGeom prst="rect">
            <a:avLst/>
          </a:prstGeom>
          <a:noFill/>
        </p:spPr>
        <p:txBody>
          <a:bodyPr wrap="square">
            <a:spAutoFit/>
          </a:bodyPr>
          <a:lstStyle/>
          <a:p>
            <a:pPr algn="l"/>
            <a:r>
              <a:rPr lang="en-US" sz="900" b="1" i="1" dirty="0">
                <a:solidFill>
                  <a:srgbClr val="2F5FC0"/>
                </a:solidFill>
                <a:latin typeface="Calibri"/>
              </a:rPr>
              <a:t>Identify Coastal Location : </a:t>
            </a:r>
            <a:r>
              <a:rPr sz="900" b="1" i="1" dirty="0">
                <a:solidFill>
                  <a:srgbClr val="2F5FC0"/>
                </a:solidFill>
                <a:latin typeface="Calibri"/>
              </a:rPr>
              <a:t>2.7× more damage coastal</a:t>
            </a:r>
          </a:p>
        </p:txBody>
      </p:sp>
      <p:sp>
        <p:nvSpPr>
          <p:cNvPr id="31" name="Rectangle 30"/>
          <p:cNvSpPr/>
          <p:nvPr/>
        </p:nvSpPr>
        <p:spPr>
          <a:xfrm>
            <a:off x="6172200" y="3200400"/>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18504" y="3200400"/>
            <a:ext cx="1417320" cy="256032"/>
          </a:xfrm>
          <a:prstGeom prst="rect">
            <a:avLst/>
          </a:prstGeom>
          <a:noFill/>
        </p:spPr>
        <p:txBody>
          <a:bodyPr wrap="square">
            <a:spAutoFit/>
          </a:bodyPr>
          <a:lstStyle/>
          <a:p>
            <a:pPr algn="l"/>
            <a:r>
              <a:rPr sz="1000" b="1" i="0">
                <a:solidFill>
                  <a:srgbClr val="1F3B70"/>
                </a:solidFill>
                <a:latin typeface="Calibri"/>
              </a:rPr>
              <a:t>storm_duration_hrs</a:t>
            </a:r>
          </a:p>
        </p:txBody>
      </p:sp>
      <p:sp>
        <p:nvSpPr>
          <p:cNvPr id="33" name="TextBox 32"/>
          <p:cNvSpPr txBox="1"/>
          <p:nvPr/>
        </p:nvSpPr>
        <p:spPr>
          <a:xfrm>
            <a:off x="6318504" y="3456432"/>
            <a:ext cx="2560320" cy="230832"/>
          </a:xfrm>
          <a:prstGeom prst="rect">
            <a:avLst/>
          </a:prstGeom>
          <a:noFill/>
        </p:spPr>
        <p:txBody>
          <a:bodyPr wrap="square">
            <a:spAutoFit/>
          </a:bodyPr>
          <a:lstStyle/>
          <a:p>
            <a:pPr algn="l"/>
            <a:r>
              <a:rPr lang="en-US" sz="900" b="1" i="1" dirty="0">
                <a:solidFill>
                  <a:srgbClr val="2F5FC0"/>
                </a:solidFill>
                <a:latin typeface="Calibri"/>
              </a:rPr>
              <a:t>How long the storm lasted</a:t>
            </a:r>
          </a:p>
        </p:txBody>
      </p:sp>
      <p:sp>
        <p:nvSpPr>
          <p:cNvPr id="34" name="Rectangle 33"/>
          <p:cNvSpPr/>
          <p:nvPr/>
        </p:nvSpPr>
        <p:spPr>
          <a:xfrm>
            <a:off x="502920" y="3803904"/>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9224" y="3803904"/>
            <a:ext cx="1417320" cy="256032"/>
          </a:xfrm>
          <a:prstGeom prst="rect">
            <a:avLst/>
          </a:prstGeom>
          <a:noFill/>
        </p:spPr>
        <p:txBody>
          <a:bodyPr wrap="square">
            <a:spAutoFit/>
          </a:bodyPr>
          <a:lstStyle/>
          <a:p>
            <a:pPr algn="l"/>
            <a:r>
              <a:rPr sz="1000" b="1" i="0">
                <a:solidFill>
                  <a:srgbClr val="1F3B70"/>
                </a:solidFill>
                <a:latin typeface="Calibri"/>
              </a:rPr>
              <a:t>is_hurricane_season</a:t>
            </a:r>
          </a:p>
        </p:txBody>
      </p:sp>
      <p:sp>
        <p:nvSpPr>
          <p:cNvPr id="36" name="TextBox 35"/>
          <p:cNvSpPr txBox="1"/>
          <p:nvPr/>
        </p:nvSpPr>
        <p:spPr>
          <a:xfrm>
            <a:off x="649224" y="4059936"/>
            <a:ext cx="2560320" cy="369332"/>
          </a:xfrm>
          <a:prstGeom prst="rect">
            <a:avLst/>
          </a:prstGeom>
          <a:noFill/>
        </p:spPr>
        <p:txBody>
          <a:bodyPr wrap="square">
            <a:spAutoFit/>
          </a:bodyPr>
          <a:lstStyle/>
          <a:p>
            <a:pPr algn="l"/>
            <a:r>
              <a:rPr lang="en-US" sz="900" b="1" i="1" dirty="0">
                <a:solidFill>
                  <a:srgbClr val="2F5FC0"/>
                </a:solidFill>
                <a:latin typeface="Calibri"/>
              </a:rPr>
              <a:t>Captures whether it occurred during hurricane season (June–Nov)</a:t>
            </a:r>
          </a:p>
        </p:txBody>
      </p:sp>
      <p:sp>
        <p:nvSpPr>
          <p:cNvPr id="37" name="Rectangle 36"/>
          <p:cNvSpPr/>
          <p:nvPr/>
        </p:nvSpPr>
        <p:spPr>
          <a:xfrm>
            <a:off x="3337560" y="3803904"/>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83864" y="3803904"/>
            <a:ext cx="1417320" cy="256032"/>
          </a:xfrm>
          <a:prstGeom prst="rect">
            <a:avLst/>
          </a:prstGeom>
          <a:noFill/>
        </p:spPr>
        <p:txBody>
          <a:bodyPr wrap="square">
            <a:spAutoFit/>
          </a:bodyPr>
          <a:lstStyle/>
          <a:p>
            <a:pPr algn="l"/>
            <a:r>
              <a:rPr sz="1000" b="1" i="0">
                <a:solidFill>
                  <a:srgbClr val="1F3B70"/>
                </a:solidFill>
                <a:latin typeface="Calibri"/>
              </a:rPr>
              <a:t>mag_x_severity</a:t>
            </a:r>
          </a:p>
        </p:txBody>
      </p:sp>
      <p:sp>
        <p:nvSpPr>
          <p:cNvPr id="39" name="TextBox 38"/>
          <p:cNvSpPr txBox="1"/>
          <p:nvPr/>
        </p:nvSpPr>
        <p:spPr>
          <a:xfrm>
            <a:off x="3483864" y="4059936"/>
            <a:ext cx="2560320" cy="230832"/>
          </a:xfrm>
          <a:prstGeom prst="rect">
            <a:avLst/>
          </a:prstGeom>
          <a:noFill/>
        </p:spPr>
        <p:txBody>
          <a:bodyPr wrap="square">
            <a:spAutoFit/>
          </a:bodyPr>
          <a:lstStyle/>
          <a:p>
            <a:pPr algn="l"/>
            <a:r>
              <a:rPr lang="en-US" sz="900" b="1" i="1" dirty="0">
                <a:solidFill>
                  <a:srgbClr val="2F5FC0"/>
                </a:solidFill>
                <a:latin typeface="Calibri"/>
              </a:rPr>
              <a:t>Storm intensity × danger score combined</a:t>
            </a:r>
            <a:endParaRPr sz="900" b="1" i="1" dirty="0">
              <a:solidFill>
                <a:srgbClr val="2F5FC0"/>
              </a:solidFill>
              <a:latin typeface="Calibri"/>
            </a:endParaRPr>
          </a:p>
        </p:txBody>
      </p:sp>
      <p:sp>
        <p:nvSpPr>
          <p:cNvPr id="40" name="Rectangle 39"/>
          <p:cNvSpPr/>
          <p:nvPr/>
        </p:nvSpPr>
        <p:spPr>
          <a:xfrm>
            <a:off x="6172200" y="3803904"/>
            <a:ext cx="73152" cy="2560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18504" y="3803904"/>
            <a:ext cx="1417320" cy="256032"/>
          </a:xfrm>
          <a:prstGeom prst="rect">
            <a:avLst/>
          </a:prstGeom>
          <a:noFill/>
        </p:spPr>
        <p:txBody>
          <a:bodyPr wrap="square">
            <a:spAutoFit/>
          </a:bodyPr>
          <a:lstStyle/>
          <a:p>
            <a:pPr algn="l"/>
            <a:r>
              <a:rPr sz="1000" b="1" i="0">
                <a:solidFill>
                  <a:srgbClr val="1F3B70"/>
                </a:solidFill>
                <a:latin typeface="Calibri"/>
              </a:rPr>
              <a:t>state_target_enc</a:t>
            </a:r>
          </a:p>
        </p:txBody>
      </p:sp>
      <p:sp>
        <p:nvSpPr>
          <p:cNvPr id="42" name="TextBox 41"/>
          <p:cNvSpPr txBox="1"/>
          <p:nvPr/>
        </p:nvSpPr>
        <p:spPr>
          <a:xfrm>
            <a:off x="6318504" y="4059936"/>
            <a:ext cx="2560320" cy="237744"/>
          </a:xfrm>
          <a:prstGeom prst="rect">
            <a:avLst/>
          </a:prstGeom>
          <a:noFill/>
        </p:spPr>
        <p:txBody>
          <a:bodyPr wrap="square">
            <a:spAutoFit/>
          </a:bodyPr>
          <a:lstStyle/>
          <a:p>
            <a:pPr algn="l"/>
            <a:r>
              <a:rPr lang="en-US" sz="900" b="1" i="1" dirty="0">
                <a:solidFill>
                  <a:srgbClr val="2F5FC0"/>
                </a:solidFill>
                <a:latin typeface="Calibri"/>
              </a:rPr>
              <a:t>Which state was hit</a:t>
            </a:r>
            <a:endParaRPr sz="900" b="1" i="1" dirty="0">
              <a:solidFill>
                <a:srgbClr val="2F5FC0"/>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bg1">
                    <a:lumMod val="50000"/>
                  </a:schemeClr>
                </a:solidFill>
                <a:latin typeface="Calibri"/>
              </a:rPr>
              <a:t>05</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a:solidFill>
                  <a:srgbClr val="1F3B70"/>
                </a:solidFill>
                <a:latin typeface="Calibri"/>
              </a:rPr>
              <a:t>Results &amp; Findings</a:t>
            </a:r>
          </a:p>
        </p:txBody>
      </p:sp>
      <p:sp>
        <p:nvSpPr>
          <p:cNvPr id="6" name="TextBox 5"/>
          <p:cNvSpPr txBox="1"/>
          <p:nvPr/>
        </p:nvSpPr>
        <p:spPr>
          <a:xfrm>
            <a:off x="2011680" y="3401568"/>
            <a:ext cx="5120640" cy="347472"/>
          </a:xfrm>
          <a:prstGeom prst="rect">
            <a:avLst/>
          </a:prstGeom>
          <a:noFill/>
        </p:spPr>
        <p:txBody>
          <a:bodyPr wrap="square">
            <a:spAutoFit/>
          </a:bodyPr>
          <a:lstStyle/>
          <a:p>
            <a:pPr algn="ctr"/>
            <a:r>
              <a:rPr sz="1300" b="0" i="0">
                <a:solidFill>
                  <a:srgbClr val="787C8A"/>
                </a:solidFill>
                <a:latin typeface="Calibri"/>
              </a:rPr>
              <a:t>Stage 1 · Stage 2 · Feature importance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05</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Stage 1: Which Characteristics Drive Damage?</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373525_image.png"/>
          <p:cNvPicPr>
            <a:picLocks noChangeAspect="1"/>
          </p:cNvPicPr>
          <p:nvPr/>
        </p:nvPicPr>
        <p:blipFill>
          <a:blip r:embed="rId2"/>
          <a:stretch>
            <a:fillRect/>
          </a:stretch>
        </p:blipFill>
        <p:spPr>
          <a:xfrm>
            <a:off x="274320" y="749808"/>
            <a:ext cx="6309360" cy="2788920"/>
          </a:xfrm>
          <a:prstGeom prst="rect">
            <a:avLst/>
          </a:prstGeom>
        </p:spPr>
      </p:pic>
      <p:sp>
        <p:nvSpPr>
          <p:cNvPr id="9" name="Rectangle 8"/>
          <p:cNvSpPr/>
          <p:nvPr/>
        </p:nvSpPr>
        <p:spPr>
          <a:xfrm>
            <a:off x="365760" y="3611880"/>
            <a:ext cx="2651760" cy="1188720"/>
          </a:xfrm>
          <a:prstGeom prst="rect">
            <a:avLst/>
          </a:prstGeom>
          <a:solidFill>
            <a:srgbClr val="EBF2FF"/>
          </a:solidFill>
          <a:ln w="1270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703320"/>
            <a:ext cx="2468880" cy="553998"/>
          </a:xfrm>
          <a:prstGeom prst="rect">
            <a:avLst/>
          </a:prstGeom>
          <a:noFill/>
        </p:spPr>
        <p:txBody>
          <a:bodyPr wrap="square">
            <a:spAutoFit/>
          </a:bodyPr>
          <a:lstStyle/>
          <a:p>
            <a:pPr algn="ctr"/>
            <a:r>
              <a:rPr sz="3000" b="1" i="0" dirty="0">
                <a:solidFill>
                  <a:srgbClr val="2F5FC0"/>
                </a:solidFill>
                <a:latin typeface="Calibri"/>
              </a:rPr>
              <a:t>92.</a:t>
            </a:r>
            <a:r>
              <a:rPr lang="en-US" sz="3000" b="1" i="0" dirty="0">
                <a:solidFill>
                  <a:srgbClr val="2F5FC0"/>
                </a:solidFill>
                <a:latin typeface="Calibri"/>
              </a:rPr>
              <a:t>2</a:t>
            </a:r>
            <a:r>
              <a:rPr sz="3000" b="1" i="0" dirty="0">
                <a:solidFill>
                  <a:srgbClr val="2F5FC0"/>
                </a:solidFill>
                <a:latin typeface="Calibri"/>
              </a:rPr>
              <a:t>%</a:t>
            </a:r>
          </a:p>
        </p:txBody>
      </p:sp>
      <p:sp>
        <p:nvSpPr>
          <p:cNvPr id="11" name="TextBox 10"/>
          <p:cNvSpPr txBox="1"/>
          <p:nvPr/>
        </p:nvSpPr>
        <p:spPr>
          <a:xfrm>
            <a:off x="457200" y="4187952"/>
            <a:ext cx="2468880" cy="256032"/>
          </a:xfrm>
          <a:prstGeom prst="rect">
            <a:avLst/>
          </a:prstGeom>
          <a:noFill/>
        </p:spPr>
        <p:txBody>
          <a:bodyPr wrap="square">
            <a:spAutoFit/>
          </a:bodyPr>
          <a:lstStyle/>
          <a:p>
            <a:pPr algn="ctr"/>
            <a:r>
              <a:rPr sz="1200" b="1" i="0">
                <a:solidFill>
                  <a:srgbClr val="1F3B70"/>
                </a:solidFill>
                <a:latin typeface="Calibri"/>
              </a:rPr>
              <a:t>XGBoost Accuracy</a:t>
            </a:r>
          </a:p>
        </p:txBody>
      </p:sp>
      <p:sp>
        <p:nvSpPr>
          <p:cNvPr id="12" name="TextBox 11"/>
          <p:cNvSpPr txBox="1"/>
          <p:nvPr/>
        </p:nvSpPr>
        <p:spPr>
          <a:xfrm>
            <a:off x="457200" y="4434840"/>
            <a:ext cx="2468880" cy="256032"/>
          </a:xfrm>
          <a:prstGeom prst="rect">
            <a:avLst/>
          </a:prstGeom>
          <a:noFill/>
        </p:spPr>
        <p:txBody>
          <a:bodyPr wrap="square">
            <a:spAutoFit/>
          </a:bodyPr>
          <a:lstStyle/>
          <a:p>
            <a:pPr algn="ctr"/>
            <a:r>
              <a:rPr sz="950" b="0" i="0">
                <a:solidFill>
                  <a:srgbClr val="787C8A"/>
                </a:solidFill>
                <a:latin typeface="Calibri"/>
              </a:rPr>
              <a:t>92.2% correct predictions</a:t>
            </a:r>
          </a:p>
        </p:txBody>
      </p:sp>
      <p:sp>
        <p:nvSpPr>
          <p:cNvPr id="13" name="Rectangle 12"/>
          <p:cNvSpPr/>
          <p:nvPr/>
        </p:nvSpPr>
        <p:spPr>
          <a:xfrm>
            <a:off x="3182112" y="3611880"/>
            <a:ext cx="2651760" cy="1188720"/>
          </a:xfrm>
          <a:prstGeom prst="rect">
            <a:avLst/>
          </a:prstGeom>
          <a:solidFill>
            <a:srgbClr val="EBF2FF"/>
          </a:solidFill>
          <a:ln w="1270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73552" y="3703320"/>
            <a:ext cx="2468880" cy="502920"/>
          </a:xfrm>
          <a:prstGeom prst="rect">
            <a:avLst/>
          </a:prstGeom>
          <a:noFill/>
        </p:spPr>
        <p:txBody>
          <a:bodyPr wrap="square">
            <a:spAutoFit/>
          </a:bodyPr>
          <a:lstStyle/>
          <a:p>
            <a:pPr algn="ctr"/>
            <a:r>
              <a:rPr sz="3000" b="1" i="0">
                <a:solidFill>
                  <a:srgbClr val="1F3B70"/>
                </a:solidFill>
                <a:latin typeface="Calibri"/>
              </a:rPr>
              <a:t>0.9705</a:t>
            </a:r>
          </a:p>
        </p:txBody>
      </p:sp>
      <p:sp>
        <p:nvSpPr>
          <p:cNvPr id="15" name="TextBox 14"/>
          <p:cNvSpPr txBox="1"/>
          <p:nvPr/>
        </p:nvSpPr>
        <p:spPr>
          <a:xfrm>
            <a:off x="3273552" y="4187952"/>
            <a:ext cx="2468880" cy="256032"/>
          </a:xfrm>
          <a:prstGeom prst="rect">
            <a:avLst/>
          </a:prstGeom>
          <a:noFill/>
        </p:spPr>
        <p:txBody>
          <a:bodyPr wrap="square">
            <a:spAutoFit/>
          </a:bodyPr>
          <a:lstStyle/>
          <a:p>
            <a:pPr algn="ctr"/>
            <a:r>
              <a:rPr sz="1200" b="1" i="0">
                <a:solidFill>
                  <a:srgbClr val="1F3B70"/>
                </a:solidFill>
                <a:latin typeface="Calibri"/>
              </a:rPr>
              <a:t>AUC Score</a:t>
            </a:r>
          </a:p>
        </p:txBody>
      </p:sp>
      <p:sp>
        <p:nvSpPr>
          <p:cNvPr id="16" name="TextBox 15"/>
          <p:cNvSpPr txBox="1"/>
          <p:nvPr/>
        </p:nvSpPr>
        <p:spPr>
          <a:xfrm>
            <a:off x="3273552" y="4434840"/>
            <a:ext cx="2468880" cy="256032"/>
          </a:xfrm>
          <a:prstGeom prst="rect">
            <a:avLst/>
          </a:prstGeom>
          <a:noFill/>
        </p:spPr>
        <p:txBody>
          <a:bodyPr wrap="square">
            <a:spAutoFit/>
          </a:bodyPr>
          <a:lstStyle/>
          <a:p>
            <a:pPr algn="ctr"/>
            <a:r>
              <a:rPr sz="950" b="0" i="0">
                <a:solidFill>
                  <a:srgbClr val="787C8A"/>
                </a:solidFill>
                <a:latin typeface="Calibri"/>
              </a:rPr>
              <a:t>Near-perfect separation</a:t>
            </a:r>
          </a:p>
        </p:txBody>
      </p:sp>
      <p:sp>
        <p:nvSpPr>
          <p:cNvPr id="18" name="TextBox 17"/>
          <p:cNvSpPr txBox="1"/>
          <p:nvPr/>
        </p:nvSpPr>
        <p:spPr>
          <a:xfrm>
            <a:off x="6089904" y="3703320"/>
            <a:ext cx="2468880" cy="502920"/>
          </a:xfrm>
          <a:prstGeom prst="rect">
            <a:avLst/>
          </a:prstGeom>
          <a:noFill/>
        </p:spPr>
        <p:txBody>
          <a:bodyPr wrap="square">
            <a:spAutoFit/>
          </a:bodyPr>
          <a:lstStyle/>
          <a:p>
            <a:pPr algn="ctr"/>
            <a:r>
              <a:rPr sz="3000" b="1" i="0" dirty="0">
                <a:solidFill>
                  <a:srgbClr val="F5A023"/>
                </a:solidFill>
                <a:latin typeface="Calibri"/>
              </a:rPr>
              <a:t>80.2%</a:t>
            </a:r>
          </a:p>
        </p:txBody>
      </p:sp>
      <p:sp>
        <p:nvSpPr>
          <p:cNvPr id="19" name="TextBox 18"/>
          <p:cNvSpPr txBox="1"/>
          <p:nvPr/>
        </p:nvSpPr>
        <p:spPr>
          <a:xfrm>
            <a:off x="6089904" y="4187952"/>
            <a:ext cx="2468880" cy="256032"/>
          </a:xfrm>
          <a:prstGeom prst="rect">
            <a:avLst/>
          </a:prstGeom>
          <a:noFill/>
        </p:spPr>
        <p:txBody>
          <a:bodyPr wrap="square">
            <a:spAutoFit/>
          </a:bodyPr>
          <a:lstStyle/>
          <a:p>
            <a:pPr algn="ctr"/>
            <a:r>
              <a:rPr sz="1200" b="1" i="0">
                <a:solidFill>
                  <a:srgbClr val="1F3B70"/>
                </a:solidFill>
                <a:latin typeface="Calibri"/>
              </a:rPr>
              <a:t>Damage Caught</a:t>
            </a:r>
          </a:p>
        </p:txBody>
      </p:sp>
      <p:sp>
        <p:nvSpPr>
          <p:cNvPr id="20" name="TextBox 19"/>
          <p:cNvSpPr txBox="1"/>
          <p:nvPr/>
        </p:nvSpPr>
        <p:spPr>
          <a:xfrm>
            <a:off x="6089904" y="4434840"/>
            <a:ext cx="2468880" cy="256032"/>
          </a:xfrm>
          <a:prstGeom prst="rect">
            <a:avLst/>
          </a:prstGeom>
          <a:noFill/>
        </p:spPr>
        <p:txBody>
          <a:bodyPr wrap="square">
            <a:spAutoFit/>
          </a:bodyPr>
          <a:lstStyle/>
          <a:p>
            <a:pPr algn="ctr"/>
            <a:r>
              <a:rPr sz="950" b="0" i="0">
                <a:solidFill>
                  <a:srgbClr val="787C8A"/>
                </a:solidFill>
                <a:latin typeface="Calibri"/>
              </a:rPr>
              <a:t>4 in 5 damaging storms
correctly flagged</a:t>
            </a:r>
          </a:p>
        </p:txBody>
      </p:sp>
      <p:sp>
        <p:nvSpPr>
          <p:cNvPr id="21" name="Rectangle 20"/>
          <p:cNvSpPr/>
          <p:nvPr/>
        </p:nvSpPr>
        <p:spPr>
          <a:xfrm>
            <a:off x="6720840" y="749808"/>
            <a:ext cx="2121408" cy="4069080"/>
          </a:xfrm>
          <a:prstGeom prst="rect">
            <a:avLst/>
          </a:prstGeom>
          <a:solidFill>
            <a:srgbClr val="EBF2FF"/>
          </a:solidFill>
          <a:ln w="635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20840" y="749808"/>
            <a:ext cx="2121408" cy="34747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768096"/>
            <a:ext cx="1920240" cy="292608"/>
          </a:xfrm>
          <a:prstGeom prst="rect">
            <a:avLst/>
          </a:prstGeom>
          <a:noFill/>
        </p:spPr>
        <p:txBody>
          <a:bodyPr wrap="square">
            <a:spAutoFit/>
          </a:bodyPr>
          <a:lstStyle/>
          <a:p>
            <a:pPr algn="ctr"/>
            <a:r>
              <a:rPr sz="1100" b="1" i="0" dirty="0">
                <a:solidFill>
                  <a:srgbClr val="FFFFFF"/>
                </a:solidFill>
                <a:latin typeface="Calibri"/>
              </a:rPr>
              <a:t>Reading the Charts</a:t>
            </a:r>
          </a:p>
        </p:txBody>
      </p:sp>
      <p:sp>
        <p:nvSpPr>
          <p:cNvPr id="24" name="Rectangle 23"/>
          <p:cNvSpPr/>
          <p:nvPr/>
        </p:nvSpPr>
        <p:spPr>
          <a:xfrm>
            <a:off x="6812280" y="1243584"/>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95160" y="1188720"/>
            <a:ext cx="1737360" cy="256032"/>
          </a:xfrm>
          <a:prstGeom prst="rect">
            <a:avLst/>
          </a:prstGeom>
          <a:noFill/>
        </p:spPr>
        <p:txBody>
          <a:bodyPr wrap="square">
            <a:spAutoFit/>
          </a:bodyPr>
          <a:lstStyle/>
          <a:p>
            <a:pPr algn="l"/>
            <a:r>
              <a:rPr sz="1000" b="1" i="0">
                <a:solidFill>
                  <a:srgbClr val="2F5FC0"/>
                </a:solidFill>
                <a:latin typeface="Calibri"/>
              </a:rPr>
              <a:t>ROC curve</a:t>
            </a:r>
          </a:p>
        </p:txBody>
      </p:sp>
      <p:sp>
        <p:nvSpPr>
          <p:cNvPr id="26" name="TextBox 25"/>
          <p:cNvSpPr txBox="1"/>
          <p:nvPr/>
        </p:nvSpPr>
        <p:spPr>
          <a:xfrm>
            <a:off x="6995160" y="1444752"/>
            <a:ext cx="1737360" cy="369332"/>
          </a:xfrm>
          <a:prstGeom prst="rect">
            <a:avLst/>
          </a:prstGeom>
          <a:noFill/>
        </p:spPr>
        <p:txBody>
          <a:bodyPr wrap="square">
            <a:spAutoFit/>
          </a:bodyPr>
          <a:lstStyle/>
          <a:p>
            <a:r>
              <a:rPr lang="en-US" sz="900" b="1" i="1" dirty="0">
                <a:solidFill>
                  <a:schemeClr val="bg1">
                    <a:lumMod val="50000"/>
                  </a:schemeClr>
                </a:solidFill>
              </a:rPr>
              <a:t>Higher = better. XGBoost (red) is closest to the top-left corner.</a:t>
            </a:r>
            <a:endParaRPr sz="900" b="1" i="1" dirty="0">
              <a:solidFill>
                <a:schemeClr val="bg1">
                  <a:lumMod val="50000"/>
                </a:schemeClr>
              </a:solidFill>
              <a:latin typeface="Calibri"/>
            </a:endParaRPr>
          </a:p>
        </p:txBody>
      </p:sp>
      <p:sp>
        <p:nvSpPr>
          <p:cNvPr id="27" name="Rectangle 26"/>
          <p:cNvSpPr/>
          <p:nvPr/>
        </p:nvSpPr>
        <p:spPr>
          <a:xfrm>
            <a:off x="6812280" y="1993392"/>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95160" y="1938528"/>
            <a:ext cx="1737360" cy="256032"/>
          </a:xfrm>
          <a:prstGeom prst="rect">
            <a:avLst/>
          </a:prstGeom>
          <a:noFill/>
        </p:spPr>
        <p:txBody>
          <a:bodyPr wrap="square">
            <a:spAutoFit/>
          </a:bodyPr>
          <a:lstStyle/>
          <a:p>
            <a:pPr algn="l"/>
            <a:r>
              <a:rPr sz="1000" b="1" i="0">
                <a:solidFill>
                  <a:srgbClr val="F5A023"/>
                </a:solidFill>
                <a:latin typeface="Calibri"/>
              </a:rPr>
              <a:t>AUC 0.9705</a:t>
            </a:r>
          </a:p>
        </p:txBody>
      </p:sp>
      <p:sp>
        <p:nvSpPr>
          <p:cNvPr id="29" name="TextBox 28"/>
          <p:cNvSpPr txBox="1"/>
          <p:nvPr/>
        </p:nvSpPr>
        <p:spPr>
          <a:xfrm>
            <a:off x="6995160" y="2194560"/>
            <a:ext cx="1737360" cy="369332"/>
          </a:xfrm>
          <a:prstGeom prst="rect">
            <a:avLst/>
          </a:prstGeom>
          <a:noFill/>
        </p:spPr>
        <p:txBody>
          <a:bodyPr wrap="square">
            <a:spAutoFit/>
          </a:bodyPr>
          <a:lstStyle/>
          <a:p>
            <a:r>
              <a:rPr sz="900" b="1" i="0" dirty="0">
                <a:solidFill>
                  <a:schemeClr val="bg1">
                    <a:lumMod val="50000"/>
                  </a:schemeClr>
                </a:solidFill>
                <a:latin typeface="+mj-lt"/>
              </a:rPr>
              <a:t>0.5=</a:t>
            </a:r>
            <a:r>
              <a:rPr lang="en-US" sz="900" b="1" i="0" dirty="0">
                <a:solidFill>
                  <a:schemeClr val="bg1">
                    <a:lumMod val="50000"/>
                  </a:schemeClr>
                </a:solidFill>
                <a:latin typeface="+mj-lt"/>
              </a:rPr>
              <a:t>R</a:t>
            </a:r>
            <a:r>
              <a:rPr lang="en-US" sz="900" b="1" dirty="0">
                <a:solidFill>
                  <a:schemeClr val="bg1">
                    <a:lumMod val="50000"/>
                  </a:schemeClr>
                </a:solidFill>
                <a:latin typeface="+mj-lt"/>
              </a:rPr>
              <a:t>andom guess</a:t>
            </a:r>
            <a:r>
              <a:rPr sz="900" b="1" i="0" dirty="0">
                <a:solidFill>
                  <a:schemeClr val="bg1">
                    <a:lumMod val="50000"/>
                  </a:schemeClr>
                </a:solidFill>
                <a:latin typeface="+mj-lt"/>
              </a:rPr>
              <a:t> · 1.0=</a:t>
            </a:r>
            <a:r>
              <a:rPr lang="en-US" sz="900" b="1" i="0" dirty="0">
                <a:solidFill>
                  <a:schemeClr val="bg1">
                    <a:lumMod val="50000"/>
                  </a:schemeClr>
                </a:solidFill>
                <a:latin typeface="+mj-lt"/>
              </a:rPr>
              <a:t>P</a:t>
            </a:r>
            <a:r>
              <a:rPr sz="900" b="1" i="0" dirty="0">
                <a:solidFill>
                  <a:schemeClr val="bg1">
                    <a:lumMod val="50000"/>
                  </a:schemeClr>
                </a:solidFill>
                <a:latin typeface="+mj-lt"/>
              </a:rPr>
              <a:t>erfect
Ours: </a:t>
            </a:r>
            <a:r>
              <a:rPr lang="en-US" sz="900" b="1" dirty="0">
                <a:solidFill>
                  <a:schemeClr val="bg1">
                    <a:lumMod val="50000"/>
                  </a:schemeClr>
                </a:solidFill>
                <a:latin typeface="+mj-lt"/>
              </a:rPr>
              <a:t>0.97</a:t>
            </a:r>
            <a:endParaRPr sz="900" b="1" i="0" dirty="0">
              <a:solidFill>
                <a:schemeClr val="bg1">
                  <a:lumMod val="50000"/>
                </a:schemeClr>
              </a:solidFill>
              <a:latin typeface="+mj-lt"/>
            </a:endParaRPr>
          </a:p>
        </p:txBody>
      </p:sp>
      <p:sp>
        <p:nvSpPr>
          <p:cNvPr id="30" name="Rectangle 29"/>
          <p:cNvSpPr/>
          <p:nvPr/>
        </p:nvSpPr>
        <p:spPr>
          <a:xfrm>
            <a:off x="6812280" y="2743200"/>
            <a:ext cx="91440" cy="23774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95160" y="2688336"/>
            <a:ext cx="1737360" cy="256032"/>
          </a:xfrm>
          <a:prstGeom prst="rect">
            <a:avLst/>
          </a:prstGeom>
          <a:noFill/>
        </p:spPr>
        <p:txBody>
          <a:bodyPr wrap="square">
            <a:spAutoFit/>
          </a:bodyPr>
          <a:lstStyle/>
          <a:p>
            <a:pPr algn="l"/>
            <a:r>
              <a:rPr sz="1000" b="1" i="0">
                <a:solidFill>
                  <a:srgbClr val="1F3B70"/>
                </a:solidFill>
                <a:latin typeface="Calibri"/>
              </a:rPr>
              <a:t>Confusion grid</a:t>
            </a:r>
          </a:p>
        </p:txBody>
      </p:sp>
      <p:sp>
        <p:nvSpPr>
          <p:cNvPr id="32" name="TextBox 31"/>
          <p:cNvSpPr txBox="1"/>
          <p:nvPr/>
        </p:nvSpPr>
        <p:spPr>
          <a:xfrm>
            <a:off x="6995160" y="2944368"/>
            <a:ext cx="1737360" cy="507831"/>
          </a:xfrm>
          <a:prstGeom prst="rect">
            <a:avLst/>
          </a:prstGeom>
          <a:noFill/>
        </p:spPr>
        <p:txBody>
          <a:bodyPr wrap="square">
            <a:spAutoFit/>
          </a:bodyPr>
          <a:lstStyle/>
          <a:p>
            <a:r>
              <a:rPr lang="en-US" sz="900" b="1" i="1" dirty="0">
                <a:solidFill>
                  <a:schemeClr val="bg1">
                    <a:lumMod val="50000"/>
                  </a:schemeClr>
                </a:solidFill>
              </a:rPr>
              <a:t>80% of real damage correctly flagged</a:t>
            </a:r>
            <a:r>
              <a:rPr lang="en-US" sz="900" i="1" dirty="0">
                <a:solidFill>
                  <a:schemeClr val="bg1">
                    <a:lumMod val="50000"/>
                  </a:schemeClr>
                </a:solidFill>
              </a:rPr>
              <a:t> </a:t>
            </a:r>
            <a:r>
              <a:rPr lang="en-US" sz="900" b="1" i="1" dirty="0">
                <a:solidFill>
                  <a:schemeClr val="bg1">
                    <a:lumMod val="50000"/>
                  </a:schemeClr>
                </a:solidFill>
              </a:rPr>
              <a:t>96.5% of harmless storms correctly ignored</a:t>
            </a:r>
            <a:endParaRPr sz="900" b="1" i="1" dirty="0">
              <a:solidFill>
                <a:schemeClr val="bg1">
                  <a:lumMod val="50000"/>
                </a:schemeClr>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05</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Stage 2: How Much Damage? — Predicted vs Actual</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775440406580_image.png"/>
          <p:cNvPicPr>
            <a:picLocks noChangeAspect="1"/>
          </p:cNvPicPr>
          <p:nvPr/>
        </p:nvPicPr>
        <p:blipFill>
          <a:blip r:embed="rId2"/>
          <a:stretch>
            <a:fillRect/>
          </a:stretch>
        </p:blipFill>
        <p:spPr>
          <a:xfrm>
            <a:off x="274320" y="749808"/>
            <a:ext cx="6309360" cy="2788920"/>
          </a:xfrm>
          <a:prstGeom prst="rect">
            <a:avLst/>
          </a:prstGeom>
        </p:spPr>
      </p:pic>
      <p:sp>
        <p:nvSpPr>
          <p:cNvPr id="21" name="Rectangle 20"/>
          <p:cNvSpPr/>
          <p:nvPr/>
        </p:nvSpPr>
        <p:spPr>
          <a:xfrm>
            <a:off x="6720840" y="749808"/>
            <a:ext cx="2121408" cy="2670048"/>
          </a:xfrm>
          <a:prstGeom prst="rect">
            <a:avLst/>
          </a:prstGeom>
          <a:solidFill>
            <a:srgbClr val="EBF2FF"/>
          </a:solidFill>
          <a:ln w="635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20840" y="749808"/>
            <a:ext cx="2121408" cy="34747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768096"/>
            <a:ext cx="1920240" cy="292608"/>
          </a:xfrm>
          <a:prstGeom prst="rect">
            <a:avLst/>
          </a:prstGeom>
          <a:noFill/>
        </p:spPr>
        <p:txBody>
          <a:bodyPr wrap="square">
            <a:spAutoFit/>
          </a:bodyPr>
          <a:lstStyle/>
          <a:p>
            <a:pPr algn="ctr"/>
            <a:r>
              <a:rPr sz="1100" b="1" i="0">
                <a:solidFill>
                  <a:srgbClr val="FFFFFF"/>
                </a:solidFill>
                <a:latin typeface="Calibri"/>
              </a:rPr>
              <a:t>Reading the Charts</a:t>
            </a:r>
          </a:p>
        </p:txBody>
      </p:sp>
      <p:sp>
        <p:nvSpPr>
          <p:cNvPr id="24" name="Rectangle 23"/>
          <p:cNvSpPr/>
          <p:nvPr/>
        </p:nvSpPr>
        <p:spPr>
          <a:xfrm>
            <a:off x="6812280" y="1243584"/>
            <a:ext cx="91440" cy="23774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95160" y="1188720"/>
            <a:ext cx="1737360" cy="256032"/>
          </a:xfrm>
          <a:prstGeom prst="rect">
            <a:avLst/>
          </a:prstGeom>
          <a:noFill/>
        </p:spPr>
        <p:txBody>
          <a:bodyPr wrap="square">
            <a:spAutoFit/>
          </a:bodyPr>
          <a:lstStyle/>
          <a:p>
            <a:pPr algn="l"/>
            <a:r>
              <a:rPr sz="1000" b="1" i="0">
                <a:solidFill>
                  <a:srgbClr val="1F3B70"/>
                </a:solidFill>
                <a:latin typeface="Calibri"/>
              </a:rPr>
              <a:t>3 scatter plots</a:t>
            </a:r>
          </a:p>
        </p:txBody>
      </p:sp>
      <p:sp>
        <p:nvSpPr>
          <p:cNvPr id="26" name="TextBox 25"/>
          <p:cNvSpPr txBox="1"/>
          <p:nvPr/>
        </p:nvSpPr>
        <p:spPr>
          <a:xfrm>
            <a:off x="6995160" y="1444752"/>
            <a:ext cx="1737360" cy="384048"/>
          </a:xfrm>
          <a:prstGeom prst="rect">
            <a:avLst/>
          </a:prstGeom>
          <a:noFill/>
        </p:spPr>
        <p:txBody>
          <a:bodyPr wrap="square">
            <a:spAutoFit/>
          </a:bodyPr>
          <a:lstStyle/>
          <a:p>
            <a:pPr algn="l"/>
            <a:r>
              <a:rPr sz="950" b="0" i="0">
                <a:solidFill>
                  <a:srgbClr val="3A3A3A"/>
                </a:solidFill>
                <a:latin typeface="Calibri"/>
              </a:rPr>
              <a:t>Each shows predicted
vs actual log(damage)</a:t>
            </a:r>
          </a:p>
        </p:txBody>
      </p:sp>
      <p:sp>
        <p:nvSpPr>
          <p:cNvPr id="27" name="Rectangle 26"/>
          <p:cNvSpPr/>
          <p:nvPr/>
        </p:nvSpPr>
        <p:spPr>
          <a:xfrm>
            <a:off x="6812280" y="1993392"/>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95160" y="1938528"/>
            <a:ext cx="1737360" cy="256032"/>
          </a:xfrm>
          <a:prstGeom prst="rect">
            <a:avLst/>
          </a:prstGeom>
          <a:noFill/>
        </p:spPr>
        <p:txBody>
          <a:bodyPr wrap="square">
            <a:spAutoFit/>
          </a:bodyPr>
          <a:lstStyle/>
          <a:p>
            <a:pPr algn="l"/>
            <a:r>
              <a:rPr sz="1000" b="1" i="0">
                <a:solidFill>
                  <a:srgbClr val="2F5FC0"/>
                </a:solidFill>
                <a:latin typeface="Calibri"/>
              </a:rPr>
              <a:t>Dashed line</a:t>
            </a:r>
          </a:p>
        </p:txBody>
      </p:sp>
      <p:sp>
        <p:nvSpPr>
          <p:cNvPr id="29" name="TextBox 28"/>
          <p:cNvSpPr txBox="1"/>
          <p:nvPr/>
        </p:nvSpPr>
        <p:spPr>
          <a:xfrm>
            <a:off x="6995160" y="2194560"/>
            <a:ext cx="1737360" cy="384048"/>
          </a:xfrm>
          <a:prstGeom prst="rect">
            <a:avLst/>
          </a:prstGeom>
          <a:noFill/>
        </p:spPr>
        <p:txBody>
          <a:bodyPr wrap="square">
            <a:spAutoFit/>
          </a:bodyPr>
          <a:lstStyle/>
          <a:p>
            <a:pPr algn="l"/>
            <a:r>
              <a:rPr sz="950" b="0" i="0">
                <a:solidFill>
                  <a:srgbClr val="3A3A3A"/>
                </a:solidFill>
                <a:latin typeface="Calibri"/>
              </a:rPr>
              <a:t>= perfect prediction
closer = more accurate</a:t>
            </a:r>
          </a:p>
        </p:txBody>
      </p:sp>
      <p:sp>
        <p:nvSpPr>
          <p:cNvPr id="30" name="Rectangle 29"/>
          <p:cNvSpPr/>
          <p:nvPr/>
        </p:nvSpPr>
        <p:spPr>
          <a:xfrm>
            <a:off x="6812280" y="2743200"/>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95160" y="2688336"/>
            <a:ext cx="1737360" cy="256032"/>
          </a:xfrm>
          <a:prstGeom prst="rect">
            <a:avLst/>
          </a:prstGeom>
          <a:noFill/>
        </p:spPr>
        <p:txBody>
          <a:bodyPr wrap="square">
            <a:spAutoFit/>
          </a:bodyPr>
          <a:lstStyle/>
          <a:p>
            <a:pPr algn="l"/>
            <a:r>
              <a:rPr sz="1000" b="1" i="0">
                <a:solidFill>
                  <a:srgbClr val="F5A023"/>
                </a:solidFill>
                <a:latin typeface="Calibri"/>
              </a:rPr>
              <a:t>XGBoost wins</a:t>
            </a:r>
          </a:p>
        </p:txBody>
      </p:sp>
      <p:sp>
        <p:nvSpPr>
          <p:cNvPr id="32" name="TextBox 31"/>
          <p:cNvSpPr txBox="1"/>
          <p:nvPr/>
        </p:nvSpPr>
        <p:spPr>
          <a:xfrm>
            <a:off x="6995160" y="2944368"/>
            <a:ext cx="1737360" cy="384048"/>
          </a:xfrm>
          <a:prstGeom prst="rect">
            <a:avLst/>
          </a:prstGeom>
          <a:noFill/>
        </p:spPr>
        <p:txBody>
          <a:bodyPr wrap="square">
            <a:spAutoFit/>
          </a:bodyPr>
          <a:lstStyle/>
          <a:p>
            <a:pPr algn="l"/>
            <a:r>
              <a:rPr sz="950" b="0" i="0">
                <a:solidFill>
                  <a:srgbClr val="3A3A3A"/>
                </a:solidFill>
                <a:latin typeface="Calibri"/>
              </a:rPr>
              <a:t>Tightest cluster around
the perfect line</a:t>
            </a:r>
          </a:p>
        </p:txBody>
      </p:sp>
      <p:pic>
        <p:nvPicPr>
          <p:cNvPr id="34" name="Picture 33">
            <a:extLst>
              <a:ext uri="{FF2B5EF4-FFF2-40B4-BE49-F238E27FC236}">
                <a16:creationId xmlns:a16="http://schemas.microsoft.com/office/drawing/2014/main" id="{55AB1096-E6E0-F93B-089C-98FD66830255}"/>
              </a:ext>
            </a:extLst>
          </p:cNvPr>
          <p:cNvPicPr>
            <a:picLocks noChangeAspect="1"/>
          </p:cNvPicPr>
          <p:nvPr/>
        </p:nvPicPr>
        <p:blipFill>
          <a:blip r:embed="rId3"/>
          <a:stretch>
            <a:fillRect/>
          </a:stretch>
        </p:blipFill>
        <p:spPr>
          <a:xfrm>
            <a:off x="172529" y="3566160"/>
            <a:ext cx="8738996" cy="15951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05</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Feature Importance — Domain Knowledge in the Model</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pic>
        <p:nvPicPr>
          <p:cNvPr id="8" name="Picture 7" descr="1775440330123_image.png"/>
          <p:cNvPicPr>
            <a:picLocks noChangeAspect="1"/>
          </p:cNvPicPr>
          <p:nvPr/>
        </p:nvPicPr>
        <p:blipFill>
          <a:blip r:embed="rId2"/>
          <a:stretch>
            <a:fillRect/>
          </a:stretch>
        </p:blipFill>
        <p:spPr>
          <a:xfrm>
            <a:off x="274320" y="749808"/>
            <a:ext cx="6400800" cy="4069080"/>
          </a:xfrm>
          <a:prstGeom prst="rect">
            <a:avLst/>
          </a:prstGeom>
        </p:spPr>
      </p:pic>
      <p:sp>
        <p:nvSpPr>
          <p:cNvPr id="9" name="Rectangle 8"/>
          <p:cNvSpPr/>
          <p:nvPr/>
        </p:nvSpPr>
        <p:spPr>
          <a:xfrm>
            <a:off x="6675120" y="758952"/>
            <a:ext cx="2121408" cy="4206240"/>
          </a:xfrm>
          <a:prstGeom prst="rect">
            <a:avLst/>
          </a:prstGeom>
          <a:solidFill>
            <a:srgbClr val="EBF2FF"/>
          </a:solidFill>
          <a:ln w="635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20840" y="749808"/>
            <a:ext cx="2121408" cy="34747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768096"/>
            <a:ext cx="1920240" cy="292608"/>
          </a:xfrm>
          <a:prstGeom prst="rect">
            <a:avLst/>
          </a:prstGeom>
          <a:noFill/>
        </p:spPr>
        <p:txBody>
          <a:bodyPr wrap="square">
            <a:spAutoFit/>
          </a:bodyPr>
          <a:lstStyle/>
          <a:p>
            <a:pPr algn="ctr"/>
            <a:r>
              <a:rPr sz="1100" b="1" i="0">
                <a:solidFill>
                  <a:srgbClr val="FFFFFF"/>
                </a:solidFill>
                <a:latin typeface="Calibri"/>
              </a:rPr>
              <a:t>The Proof</a:t>
            </a:r>
          </a:p>
        </p:txBody>
      </p:sp>
      <p:sp>
        <p:nvSpPr>
          <p:cNvPr id="12" name="Rectangle 11"/>
          <p:cNvSpPr/>
          <p:nvPr/>
        </p:nvSpPr>
        <p:spPr>
          <a:xfrm>
            <a:off x="6812280" y="1243584"/>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95160" y="1188720"/>
            <a:ext cx="1737360" cy="256032"/>
          </a:xfrm>
          <a:prstGeom prst="rect">
            <a:avLst/>
          </a:prstGeom>
          <a:noFill/>
        </p:spPr>
        <p:txBody>
          <a:bodyPr wrap="square">
            <a:spAutoFit/>
          </a:bodyPr>
          <a:lstStyle/>
          <a:p>
            <a:pPr algn="l"/>
            <a:r>
              <a:rPr sz="1000" b="1" i="0">
                <a:solidFill>
                  <a:srgbClr val="F5A023"/>
                </a:solidFill>
                <a:latin typeface="Calibri"/>
              </a:rPr>
              <a:t>Stage 1 #1</a:t>
            </a:r>
          </a:p>
        </p:txBody>
      </p:sp>
      <p:sp>
        <p:nvSpPr>
          <p:cNvPr id="14" name="TextBox 13"/>
          <p:cNvSpPr txBox="1"/>
          <p:nvPr/>
        </p:nvSpPr>
        <p:spPr>
          <a:xfrm>
            <a:off x="6995160" y="1444752"/>
            <a:ext cx="1737360" cy="584775"/>
          </a:xfrm>
          <a:prstGeom prst="rect">
            <a:avLst/>
          </a:prstGeom>
          <a:noFill/>
        </p:spPr>
        <p:txBody>
          <a:bodyPr wrap="square">
            <a:spAutoFit/>
          </a:bodyPr>
          <a:lstStyle/>
          <a:p>
            <a:r>
              <a:rPr sz="800" b="1" i="1" dirty="0">
                <a:solidFill>
                  <a:srgbClr val="3A3A3A"/>
                </a:solidFill>
                <a:latin typeface="Calibri"/>
              </a:rPr>
              <a:t>Magnitude Type</a:t>
            </a:r>
            <a:r>
              <a:rPr lang="en-US" sz="800" b="0" i="0" dirty="0">
                <a:solidFill>
                  <a:srgbClr val="3A3A3A"/>
                </a:solidFill>
                <a:latin typeface="Calibri"/>
              </a:rPr>
              <a:t>: </a:t>
            </a:r>
            <a:r>
              <a:rPr lang="en-US" sz="800" dirty="0"/>
              <a:t>Acts as the primary "Category Signal," distinguishing between minor weather and major catastrophic events.</a:t>
            </a:r>
            <a:endParaRPr sz="800" b="0" i="0" dirty="0">
              <a:solidFill>
                <a:srgbClr val="3A3A3A"/>
              </a:solidFill>
              <a:latin typeface="Calibri"/>
            </a:endParaRPr>
          </a:p>
        </p:txBody>
      </p:sp>
      <p:sp>
        <p:nvSpPr>
          <p:cNvPr id="15" name="Rectangle 14"/>
          <p:cNvSpPr/>
          <p:nvPr/>
        </p:nvSpPr>
        <p:spPr>
          <a:xfrm>
            <a:off x="6805930" y="2235200"/>
            <a:ext cx="91440" cy="237744"/>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60" y="1996951"/>
            <a:ext cx="1627632" cy="246221"/>
          </a:xfrm>
          <a:prstGeom prst="rect">
            <a:avLst/>
          </a:prstGeom>
          <a:noFill/>
        </p:spPr>
        <p:txBody>
          <a:bodyPr wrap="square">
            <a:spAutoFit/>
          </a:bodyPr>
          <a:lstStyle/>
          <a:p>
            <a:pPr algn="l"/>
            <a:r>
              <a:rPr sz="1000" b="1" i="0" dirty="0">
                <a:solidFill>
                  <a:srgbClr val="F5A023"/>
                </a:solidFill>
                <a:latin typeface="Calibri"/>
              </a:rPr>
              <a:t>Stage 1 #2</a:t>
            </a:r>
          </a:p>
        </p:txBody>
      </p:sp>
      <p:sp>
        <p:nvSpPr>
          <p:cNvPr id="17" name="TextBox 16"/>
          <p:cNvSpPr txBox="1"/>
          <p:nvPr/>
        </p:nvSpPr>
        <p:spPr>
          <a:xfrm>
            <a:off x="6954774" y="2175995"/>
            <a:ext cx="1737360" cy="584775"/>
          </a:xfrm>
          <a:prstGeom prst="rect">
            <a:avLst/>
          </a:prstGeom>
          <a:noFill/>
        </p:spPr>
        <p:txBody>
          <a:bodyPr wrap="square">
            <a:spAutoFit/>
          </a:bodyPr>
          <a:lstStyle/>
          <a:p>
            <a:r>
              <a:rPr lang="en-US" sz="800" b="1" i="1" dirty="0"/>
              <a:t>Severity Score</a:t>
            </a:r>
            <a:r>
              <a:rPr lang="en-US" sz="800" dirty="0"/>
              <a:t>: A Strategic Risk Indicator that ranks storm types by historical destructiveness to provide the model with expert context.</a:t>
            </a:r>
            <a:endParaRPr sz="800" b="0" i="0" dirty="0">
              <a:solidFill>
                <a:srgbClr val="3A3A3A"/>
              </a:solidFill>
              <a:latin typeface="Calibri"/>
            </a:endParaRPr>
          </a:p>
        </p:txBody>
      </p:sp>
      <p:sp>
        <p:nvSpPr>
          <p:cNvPr id="18" name="Rectangle 17"/>
          <p:cNvSpPr/>
          <p:nvPr/>
        </p:nvSpPr>
        <p:spPr>
          <a:xfrm>
            <a:off x="6814820" y="2989072"/>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2968" y="2741622"/>
            <a:ext cx="1709166" cy="246221"/>
          </a:xfrm>
          <a:prstGeom prst="rect">
            <a:avLst/>
          </a:prstGeom>
          <a:noFill/>
        </p:spPr>
        <p:txBody>
          <a:bodyPr wrap="square">
            <a:spAutoFit/>
          </a:bodyPr>
          <a:lstStyle/>
          <a:p>
            <a:pPr algn="l"/>
            <a:r>
              <a:rPr sz="1000" b="1" i="0" dirty="0">
                <a:solidFill>
                  <a:srgbClr val="2F5FC0"/>
                </a:solidFill>
                <a:latin typeface="Calibri"/>
              </a:rPr>
              <a:t>Stage 2 #</a:t>
            </a:r>
            <a:r>
              <a:rPr lang="en-US" sz="1000" b="1" i="0" dirty="0">
                <a:solidFill>
                  <a:srgbClr val="2F5FC0"/>
                </a:solidFill>
                <a:latin typeface="Calibri"/>
              </a:rPr>
              <a:t>1</a:t>
            </a:r>
            <a:endParaRPr sz="1000" b="1" i="0" dirty="0">
              <a:solidFill>
                <a:srgbClr val="2F5FC0"/>
              </a:solidFill>
              <a:latin typeface="Calibri"/>
            </a:endParaRPr>
          </a:p>
        </p:txBody>
      </p:sp>
      <p:sp>
        <p:nvSpPr>
          <p:cNvPr id="20" name="TextBox 19"/>
          <p:cNvSpPr txBox="1"/>
          <p:nvPr/>
        </p:nvSpPr>
        <p:spPr>
          <a:xfrm>
            <a:off x="6931914" y="2908680"/>
            <a:ext cx="1737360" cy="954107"/>
          </a:xfrm>
          <a:prstGeom prst="rect">
            <a:avLst/>
          </a:prstGeom>
          <a:noFill/>
        </p:spPr>
        <p:txBody>
          <a:bodyPr wrap="square">
            <a:spAutoFit/>
          </a:bodyPr>
          <a:lstStyle/>
          <a:p>
            <a:r>
              <a:rPr lang="en-US" sz="800" b="1" i="1" dirty="0">
                <a:solidFill>
                  <a:srgbClr val="3A3A3A"/>
                </a:solidFill>
                <a:latin typeface="Calibri"/>
              </a:rPr>
              <a:t>Wfo_target_enc: </a:t>
            </a:r>
            <a:r>
              <a:rPr lang="en-US" sz="800" dirty="0"/>
              <a:t>Average damage per Weather Forecast Office. Replaces ID numbers with the historical mean damage per local weather office to capture granular, high-risk geographic zones.</a:t>
            </a:r>
          </a:p>
          <a:p>
            <a:endParaRPr sz="800" b="0" i="0" dirty="0">
              <a:solidFill>
                <a:srgbClr val="3A3A3A"/>
              </a:solidFill>
              <a:latin typeface="Calibri"/>
            </a:endParaRPr>
          </a:p>
        </p:txBody>
      </p:sp>
      <p:sp>
        <p:nvSpPr>
          <p:cNvPr id="22" name="TextBox 21"/>
          <p:cNvSpPr txBox="1"/>
          <p:nvPr/>
        </p:nvSpPr>
        <p:spPr>
          <a:xfrm>
            <a:off x="6982968" y="3656596"/>
            <a:ext cx="1737360" cy="256032"/>
          </a:xfrm>
          <a:prstGeom prst="rect">
            <a:avLst/>
          </a:prstGeom>
          <a:noFill/>
        </p:spPr>
        <p:txBody>
          <a:bodyPr wrap="square">
            <a:spAutoFit/>
          </a:bodyPr>
          <a:lstStyle/>
          <a:p>
            <a:r>
              <a:rPr lang="en-US" sz="1000" b="1" dirty="0">
                <a:solidFill>
                  <a:srgbClr val="2F5FC0"/>
                </a:solidFill>
              </a:rPr>
              <a:t>Stage 2 #2</a:t>
            </a:r>
            <a:endParaRPr sz="1000" b="1" i="0" dirty="0">
              <a:solidFill>
                <a:srgbClr val="1F3B70"/>
              </a:solidFill>
              <a:latin typeface="Calibri"/>
            </a:endParaRPr>
          </a:p>
        </p:txBody>
      </p:sp>
      <p:sp>
        <p:nvSpPr>
          <p:cNvPr id="23" name="TextBox 22"/>
          <p:cNvSpPr txBox="1"/>
          <p:nvPr/>
        </p:nvSpPr>
        <p:spPr>
          <a:xfrm>
            <a:off x="6944614" y="3824646"/>
            <a:ext cx="1737360" cy="1200329"/>
          </a:xfrm>
          <a:prstGeom prst="rect">
            <a:avLst/>
          </a:prstGeom>
          <a:noFill/>
        </p:spPr>
        <p:txBody>
          <a:bodyPr wrap="square">
            <a:spAutoFit/>
          </a:bodyPr>
          <a:lstStyle/>
          <a:p>
            <a:r>
              <a:rPr lang="en-US" sz="800" b="1" i="1" dirty="0">
                <a:solidFill>
                  <a:srgbClr val="3A3A3A"/>
                </a:solidFill>
              </a:rPr>
              <a:t>mag_x_severity = </a:t>
            </a:r>
            <a:r>
              <a:rPr lang="en-US" sz="800" b="1" i="1" dirty="0"/>
              <a:t> magnitude × event_severity_score</a:t>
            </a:r>
          </a:p>
          <a:p>
            <a:r>
              <a:rPr lang="en-US" sz="800" dirty="0"/>
              <a:t>Combines storm intensity with storm type. It ensures the model distinguishes between high-magnitude events of different types (e.g. a Tornado vs. a Thunderstorm at the same wind speed), capturing the true "combined punch" of the event.</a:t>
            </a:r>
            <a:endParaRPr sz="800" b="0" i="0" dirty="0">
              <a:solidFill>
                <a:srgbClr val="3A3A3A"/>
              </a:solidFill>
              <a:latin typeface="Calibri"/>
            </a:endParaRPr>
          </a:p>
        </p:txBody>
      </p:sp>
      <p:sp>
        <p:nvSpPr>
          <p:cNvPr id="24" name="Rectangle 23">
            <a:extLst>
              <a:ext uri="{FF2B5EF4-FFF2-40B4-BE49-F238E27FC236}">
                <a16:creationId xmlns:a16="http://schemas.microsoft.com/office/drawing/2014/main" id="{4D787891-12EF-CE0D-828F-F9EC2A92190C}"/>
              </a:ext>
            </a:extLst>
          </p:cNvPr>
          <p:cNvSpPr/>
          <p:nvPr/>
        </p:nvSpPr>
        <p:spPr>
          <a:xfrm>
            <a:off x="6814820" y="3895344"/>
            <a:ext cx="91440" cy="237744"/>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0" y="914400"/>
            <a:ext cx="2926080" cy="2092881"/>
          </a:xfrm>
          <a:prstGeom prst="rect">
            <a:avLst/>
          </a:prstGeom>
          <a:noFill/>
        </p:spPr>
        <p:txBody>
          <a:bodyPr wrap="square">
            <a:spAutoFit/>
          </a:bodyPr>
          <a:lstStyle/>
          <a:p>
            <a:pPr algn="ctr"/>
            <a:r>
              <a:rPr sz="13000" b="1" i="0" dirty="0">
                <a:solidFill>
                  <a:schemeClr val="bg1">
                    <a:lumMod val="50000"/>
                  </a:schemeClr>
                </a:solidFill>
                <a:latin typeface="Calibri"/>
              </a:rPr>
              <a:t>06</a:t>
            </a:r>
          </a:p>
        </p:txBody>
      </p:sp>
      <p:sp>
        <p:nvSpPr>
          <p:cNvPr id="5" name="TextBox 4"/>
          <p:cNvSpPr txBox="1"/>
          <p:nvPr/>
        </p:nvSpPr>
        <p:spPr>
          <a:xfrm>
            <a:off x="1828800" y="2788920"/>
            <a:ext cx="5486400" cy="594360"/>
          </a:xfrm>
          <a:prstGeom prst="rect">
            <a:avLst/>
          </a:prstGeom>
          <a:noFill/>
        </p:spPr>
        <p:txBody>
          <a:bodyPr wrap="square">
            <a:spAutoFit/>
          </a:bodyPr>
          <a:lstStyle/>
          <a:p>
            <a:pPr algn="ctr"/>
            <a:r>
              <a:rPr sz="2800" b="1" i="0">
                <a:solidFill>
                  <a:srgbClr val="1F3B70"/>
                </a:solidFill>
                <a:latin typeface="Calibri"/>
              </a:rPr>
              <a:t>Business Application</a:t>
            </a:r>
          </a:p>
        </p:txBody>
      </p:sp>
      <p:sp>
        <p:nvSpPr>
          <p:cNvPr id="6" name="TextBox 5"/>
          <p:cNvSpPr txBox="1"/>
          <p:nvPr/>
        </p:nvSpPr>
        <p:spPr>
          <a:xfrm>
            <a:off x="2011680" y="3401568"/>
            <a:ext cx="5120640" cy="292388"/>
          </a:xfrm>
          <a:prstGeom prst="rect">
            <a:avLst/>
          </a:prstGeom>
          <a:noFill/>
        </p:spPr>
        <p:txBody>
          <a:bodyPr wrap="square">
            <a:spAutoFit/>
          </a:bodyPr>
          <a:lstStyle/>
          <a:p>
            <a:pPr algn="ctr"/>
            <a:r>
              <a:rPr sz="1300" b="0" i="0" dirty="0">
                <a:solidFill>
                  <a:srgbClr val="787C8A"/>
                </a:solidFill>
                <a:latin typeface="Calibri"/>
              </a:rPr>
              <a:t>Recommendations for a New England </a:t>
            </a:r>
            <a:r>
              <a:rPr lang="en-US" sz="1300" b="0" i="0" dirty="0">
                <a:solidFill>
                  <a:srgbClr val="787C8A"/>
                </a:solidFill>
                <a:latin typeface="Calibri"/>
              </a:rPr>
              <a:t>I</a:t>
            </a:r>
            <a:r>
              <a:rPr sz="1300" b="0" i="0" dirty="0">
                <a:solidFill>
                  <a:srgbClr val="787C8A"/>
                </a:solidFill>
                <a:latin typeface="Calibri"/>
              </a:rPr>
              <a:t>nsurance company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18872"/>
            <a:ext cx="402336" cy="402336"/>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8872"/>
            <a:ext cx="402336" cy="402336"/>
          </a:xfrm>
          <a:prstGeom prst="rect">
            <a:avLst/>
          </a:prstGeom>
          <a:noFill/>
        </p:spPr>
        <p:txBody>
          <a:bodyPr wrap="square">
            <a:spAutoFit/>
          </a:bodyPr>
          <a:lstStyle/>
          <a:p>
            <a:pPr algn="ctr"/>
            <a:r>
              <a:rPr sz="1500" b="1" i="0">
                <a:solidFill>
                  <a:srgbClr val="FFFFFF"/>
                </a:solidFill>
                <a:latin typeface="Calibri"/>
              </a:rPr>
              <a:t>06</a:t>
            </a:r>
          </a:p>
        </p:txBody>
      </p:sp>
      <p:sp>
        <p:nvSpPr>
          <p:cNvPr id="5" name="TextBox 4"/>
          <p:cNvSpPr txBox="1"/>
          <p:nvPr/>
        </p:nvSpPr>
        <p:spPr>
          <a:xfrm>
            <a:off x="786384" y="128016"/>
            <a:ext cx="8229600" cy="402336"/>
          </a:xfrm>
          <a:prstGeom prst="rect">
            <a:avLst/>
          </a:prstGeom>
          <a:noFill/>
        </p:spPr>
        <p:txBody>
          <a:bodyPr wrap="square">
            <a:spAutoFit/>
          </a:bodyPr>
          <a:lstStyle/>
          <a:p>
            <a:pPr algn="l"/>
            <a:r>
              <a:rPr sz="1900" b="1" i="0">
                <a:solidFill>
                  <a:srgbClr val="FFFFFF"/>
                </a:solidFill>
                <a:latin typeface="Calibri"/>
              </a:rPr>
              <a:t>Actionable Recommendations</a:t>
            </a:r>
          </a:p>
        </p:txBody>
      </p:sp>
      <p:sp>
        <p:nvSpPr>
          <p:cNvPr id="6" name="Rectangle 5"/>
          <p:cNvSpPr/>
          <p:nvPr/>
        </p:nvSpPr>
        <p:spPr>
          <a:xfrm>
            <a:off x="0" y="4956048"/>
            <a:ext cx="9144000" cy="192024"/>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965192"/>
            <a:ext cx="8595360" cy="215444"/>
          </a:xfrm>
          <a:prstGeom prst="rect">
            <a:avLst/>
          </a:prstGeom>
          <a:noFill/>
        </p:spPr>
        <p:txBody>
          <a:bodyPr wrap="square">
            <a:spAutoFit/>
          </a:bodyPr>
          <a:lstStyle/>
          <a:p>
            <a:pPr algn="ctr"/>
            <a:r>
              <a:rPr sz="800" b="0" i="0" dirty="0">
                <a:solidFill>
                  <a:srgbClr val="D6E4F7"/>
                </a:solidFill>
                <a:latin typeface="Calibri"/>
              </a:rPr>
              <a:t>NOAA Storm Damage Prediction  ·  Suffolk University  ·  ISOM 631  ·  </a:t>
            </a:r>
            <a:r>
              <a:rPr lang="en-US" sz="800" b="0" i="0" dirty="0">
                <a:solidFill>
                  <a:srgbClr val="D6E4F7"/>
                </a:solidFill>
                <a:latin typeface="Calibri"/>
              </a:rPr>
              <a:t>April 2026</a:t>
            </a:r>
            <a:endParaRPr sz="800" b="0" i="0" dirty="0">
              <a:solidFill>
                <a:srgbClr val="D6E4F7"/>
              </a:solidFill>
              <a:latin typeface="Calibri"/>
            </a:endParaRPr>
          </a:p>
        </p:txBody>
      </p:sp>
      <p:sp>
        <p:nvSpPr>
          <p:cNvPr id="8" name="Rectangle 7"/>
          <p:cNvSpPr/>
          <p:nvPr/>
        </p:nvSpPr>
        <p:spPr>
          <a:xfrm>
            <a:off x="365760" y="804672"/>
            <a:ext cx="8503920" cy="1170432"/>
          </a:xfrm>
          <a:prstGeom prst="rect">
            <a:avLst/>
          </a:prstGeom>
          <a:solidFill>
            <a:srgbClr val="EBF2FF"/>
          </a:solidFill>
          <a:ln w="12700">
            <a:solidFill>
              <a:srgbClr val="F5A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804672"/>
            <a:ext cx="109728" cy="117043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833663"/>
            <a:ext cx="8138160" cy="307777"/>
          </a:xfrm>
          <a:prstGeom prst="rect">
            <a:avLst/>
          </a:prstGeom>
          <a:noFill/>
        </p:spPr>
        <p:txBody>
          <a:bodyPr wrap="square">
            <a:spAutoFit/>
          </a:bodyPr>
          <a:lstStyle/>
          <a:p>
            <a:r>
              <a:rPr lang="en-US" sz="1400" b="1" dirty="0">
                <a:solidFill>
                  <a:schemeClr val="accent6"/>
                </a:solidFill>
                <a:latin typeface="+mj-lt"/>
              </a:rPr>
              <a:t>Identify damage the moment a storm is recorded</a:t>
            </a:r>
            <a:endParaRPr sz="1300" b="1" i="0" dirty="0">
              <a:solidFill>
                <a:schemeClr val="accent6"/>
              </a:solidFill>
              <a:latin typeface="+mj-lt"/>
            </a:endParaRPr>
          </a:p>
        </p:txBody>
      </p:sp>
      <p:sp>
        <p:nvSpPr>
          <p:cNvPr id="11" name="TextBox 10"/>
          <p:cNvSpPr txBox="1"/>
          <p:nvPr/>
        </p:nvSpPr>
        <p:spPr>
          <a:xfrm>
            <a:off x="594360" y="1261872"/>
            <a:ext cx="8138160" cy="600164"/>
          </a:xfrm>
          <a:prstGeom prst="rect">
            <a:avLst/>
          </a:prstGeom>
          <a:noFill/>
        </p:spPr>
        <p:txBody>
          <a:bodyPr wrap="square">
            <a:spAutoFit/>
          </a:bodyPr>
          <a:lstStyle/>
          <a:p>
            <a:r>
              <a:rPr lang="en-US" sz="1100" i="1" dirty="0"/>
              <a:t>When NOAA logs a storm, our model instantly flags which locations suffered damage : the same day, not days later. Claims teams can dispatch adjusters to the right places immediately instead of waiting for slow manual field reports. In testing, the model correctly identified 8 out of every 10 damaging storm events using only storm type, location, and magnitude.</a:t>
            </a:r>
            <a:endParaRPr sz="1100" b="0" i="1" dirty="0">
              <a:solidFill>
                <a:srgbClr val="3A3A3A"/>
              </a:solidFill>
              <a:latin typeface="Calibri"/>
            </a:endParaRPr>
          </a:p>
        </p:txBody>
      </p:sp>
      <p:sp>
        <p:nvSpPr>
          <p:cNvPr id="12" name="Rectangle 11"/>
          <p:cNvSpPr/>
          <p:nvPr/>
        </p:nvSpPr>
        <p:spPr>
          <a:xfrm>
            <a:off x="365760" y="2103120"/>
            <a:ext cx="8503920" cy="1170432"/>
          </a:xfrm>
          <a:prstGeom prst="rect">
            <a:avLst/>
          </a:prstGeom>
          <a:solidFill>
            <a:srgbClr val="FFFFFF"/>
          </a:solidFill>
          <a:ln w="12700">
            <a:solidFill>
              <a:srgbClr val="2F5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103120"/>
            <a:ext cx="109728" cy="1170432"/>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194560"/>
            <a:ext cx="8138160" cy="292388"/>
          </a:xfrm>
          <a:prstGeom prst="rect">
            <a:avLst/>
          </a:prstGeom>
          <a:noFill/>
        </p:spPr>
        <p:txBody>
          <a:bodyPr wrap="square">
            <a:spAutoFit/>
          </a:bodyPr>
          <a:lstStyle/>
          <a:p>
            <a:pPr algn="l"/>
            <a:r>
              <a:rPr lang="en-US" sz="1300" b="1" i="0" dirty="0">
                <a:solidFill>
                  <a:srgbClr val="2F5FC0"/>
                </a:solidFill>
                <a:latin typeface="Calibri"/>
              </a:rPr>
              <a:t>See where losses are piling up , before the bills arrive</a:t>
            </a:r>
            <a:endParaRPr sz="1300" b="1" i="0" dirty="0">
              <a:solidFill>
                <a:srgbClr val="2F5FC0"/>
              </a:solidFill>
              <a:latin typeface="Calibri"/>
            </a:endParaRPr>
          </a:p>
        </p:txBody>
      </p:sp>
      <p:sp>
        <p:nvSpPr>
          <p:cNvPr id="15" name="TextBox 14"/>
          <p:cNvSpPr txBox="1"/>
          <p:nvPr/>
        </p:nvSpPr>
        <p:spPr>
          <a:xfrm>
            <a:off x="594360" y="2560320"/>
            <a:ext cx="8138160" cy="600164"/>
          </a:xfrm>
          <a:prstGeom prst="rect">
            <a:avLst/>
          </a:prstGeom>
          <a:noFill/>
        </p:spPr>
        <p:txBody>
          <a:bodyPr wrap="square">
            <a:spAutoFit/>
          </a:bodyPr>
          <a:lstStyle/>
          <a:p>
            <a:r>
              <a:rPr lang="en-US" sz="1100" i="1" dirty="0">
                <a:solidFill>
                  <a:srgbClr val="3A3A3A"/>
                </a:solidFill>
                <a:latin typeface="Calibri"/>
              </a:rPr>
              <a:t>When multiple policyholders in the same area are hit by the same storm, losses pile up fast. The model shows exactly where damage is clustering on a map : for example, multiple counties in Florida after a hurricane. This gives the company early warning to prepare reserves and notify reinsurers before </a:t>
            </a:r>
            <a:r>
              <a:rPr lang="en-US" sz="1100" b="0" i="1" dirty="0">
                <a:solidFill>
                  <a:srgbClr val="3A3A3A"/>
                </a:solidFill>
                <a:latin typeface="Calibri"/>
              </a:rPr>
              <a:t>the claims flood in.</a:t>
            </a:r>
            <a:endParaRPr sz="1100" b="0" i="1" dirty="0">
              <a:solidFill>
                <a:srgbClr val="3A3A3A"/>
              </a:solidFill>
              <a:latin typeface="Calibri"/>
            </a:endParaRPr>
          </a:p>
        </p:txBody>
      </p:sp>
      <p:sp>
        <p:nvSpPr>
          <p:cNvPr id="16" name="Rectangle 15"/>
          <p:cNvSpPr/>
          <p:nvPr/>
        </p:nvSpPr>
        <p:spPr>
          <a:xfrm>
            <a:off x="365760" y="3401568"/>
            <a:ext cx="8503920" cy="1170432"/>
          </a:xfrm>
          <a:prstGeom prst="rect">
            <a:avLst/>
          </a:prstGeom>
          <a:solidFill>
            <a:srgbClr val="EBF2FF"/>
          </a:solidFill>
          <a:ln w="12700">
            <a:solidFill>
              <a:srgbClr val="1F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401568"/>
            <a:ext cx="109728" cy="1170432"/>
          </a:xfrm>
          <a:prstGeom prst="rect">
            <a:avLst/>
          </a:prstGeom>
          <a:solidFill>
            <a:srgbClr val="1F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493008"/>
            <a:ext cx="8138160" cy="292388"/>
          </a:xfrm>
          <a:prstGeom prst="rect">
            <a:avLst/>
          </a:prstGeom>
          <a:noFill/>
        </p:spPr>
        <p:txBody>
          <a:bodyPr wrap="square">
            <a:spAutoFit/>
          </a:bodyPr>
          <a:lstStyle/>
          <a:p>
            <a:pPr algn="l"/>
            <a:r>
              <a:rPr lang="en-US" sz="1300" b="1" i="0" dirty="0">
                <a:solidFill>
                  <a:srgbClr val="1F3B70"/>
                </a:solidFill>
                <a:latin typeface="Calibri"/>
              </a:rPr>
              <a:t>Set financial reserves the same day, not weeks later</a:t>
            </a:r>
            <a:endParaRPr sz="1300" b="1" i="0" dirty="0">
              <a:solidFill>
                <a:srgbClr val="1F3B70"/>
              </a:solidFill>
              <a:latin typeface="Calibri"/>
            </a:endParaRPr>
          </a:p>
        </p:txBody>
      </p:sp>
      <p:sp>
        <p:nvSpPr>
          <p:cNvPr id="19" name="TextBox 18"/>
          <p:cNvSpPr txBox="1"/>
          <p:nvPr/>
        </p:nvSpPr>
        <p:spPr>
          <a:xfrm>
            <a:off x="594360" y="3858768"/>
            <a:ext cx="8138160" cy="600164"/>
          </a:xfrm>
          <a:prstGeom prst="rect">
            <a:avLst/>
          </a:prstGeom>
          <a:noFill/>
        </p:spPr>
        <p:txBody>
          <a:bodyPr wrap="square">
            <a:spAutoFit/>
          </a:bodyPr>
          <a:lstStyle/>
          <a:p>
            <a:r>
              <a:rPr lang="en-US" sz="1100" i="1" dirty="0">
                <a:solidFill>
                  <a:srgbClr val="3A3A3A"/>
                </a:solidFill>
                <a:latin typeface="Calibri"/>
              </a:rPr>
              <a:t>Once a storm is recorded, the model instantly estimates how much it will cost. No waiting weeks for field reports , finance gets a dollar figure the same day and can set aside the right amount of money immediately.</a:t>
            </a:r>
          </a:p>
          <a:p>
            <a:r>
              <a:rPr lang="en-US" sz="1100" i="1" dirty="0">
                <a:solidFill>
                  <a:srgbClr val="3A3A3A"/>
                </a:solidFill>
                <a:latin typeface="Calibri"/>
              </a:rPr>
              <a:t>It </a:t>
            </a:r>
            <a:r>
              <a:rPr lang="en-US" sz="1100" i="1">
                <a:solidFill>
                  <a:srgbClr val="3A3A3A"/>
                </a:solidFill>
                <a:latin typeface="Calibri"/>
              </a:rPr>
              <a:t>is relevant for </a:t>
            </a:r>
            <a:endParaRPr sz="1100" i="1" dirty="0">
              <a:solidFill>
                <a:srgbClr val="3A3A3A"/>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3B7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9144000" cy="73152"/>
          </a:xfrm>
          <a:prstGeom prst="rect">
            <a:avLst/>
          </a:prstGeom>
          <a:solidFill>
            <a:srgbClr val="F5A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640080"/>
            <a:ext cx="5486400" cy="1188720"/>
          </a:xfrm>
          <a:prstGeom prst="rect">
            <a:avLst/>
          </a:prstGeom>
          <a:noFill/>
        </p:spPr>
        <p:txBody>
          <a:bodyPr wrap="square">
            <a:spAutoFit/>
          </a:bodyPr>
          <a:lstStyle/>
          <a:p>
            <a:pPr algn="ctr"/>
            <a:r>
              <a:rPr sz="6400" b="1" i="0">
                <a:solidFill>
                  <a:srgbClr val="FFFFFF"/>
                </a:solidFill>
                <a:latin typeface="Calibri"/>
              </a:rPr>
              <a:t>THANK YOU</a:t>
            </a:r>
          </a:p>
        </p:txBody>
      </p:sp>
      <p:sp>
        <p:nvSpPr>
          <p:cNvPr id="5" name="Rectangle 4"/>
          <p:cNvSpPr/>
          <p:nvPr/>
        </p:nvSpPr>
        <p:spPr>
          <a:xfrm>
            <a:off x="731520" y="1920240"/>
            <a:ext cx="7680960" cy="914400"/>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29968"/>
            <a:ext cx="7315200" cy="430887"/>
          </a:xfrm>
          <a:prstGeom prst="rect">
            <a:avLst/>
          </a:prstGeom>
          <a:noFill/>
        </p:spPr>
        <p:txBody>
          <a:bodyPr wrap="square">
            <a:spAutoFit/>
          </a:bodyPr>
          <a:lstStyle/>
          <a:p>
            <a:pPr algn="ctr"/>
            <a:r>
              <a:rPr sz="1100" b="0" i="1" dirty="0">
                <a:solidFill>
                  <a:srgbClr val="FFFFFF"/>
                </a:solidFill>
                <a:latin typeface="Calibri"/>
              </a:rPr>
              <a:t>"We identified which storm characteristics drive property damage </a:t>
            </a:r>
            <a:r>
              <a:rPr lang="en-US" sz="1100" b="0" i="1" dirty="0">
                <a:solidFill>
                  <a:srgbClr val="FFFFFF"/>
                </a:solidFill>
                <a:latin typeface="Calibri"/>
              </a:rPr>
              <a:t>:</a:t>
            </a:r>
            <a:r>
              <a:rPr sz="1100" b="0" i="1" dirty="0">
                <a:solidFill>
                  <a:srgbClr val="FFFFFF"/>
                </a:solidFill>
                <a:latin typeface="Calibri"/>
              </a:rPr>
              <a:t> and built a two-stage system </a:t>
            </a:r>
            <a:r>
              <a:rPr lang="en-US" sz="1100" i="1" dirty="0">
                <a:solidFill>
                  <a:srgbClr val="FFFFFF"/>
                </a:solidFill>
                <a:latin typeface="Calibri"/>
              </a:rPr>
              <a:t>which</a:t>
            </a:r>
            <a:r>
              <a:rPr lang="en-US" sz="1100" b="0" i="1" dirty="0">
                <a:solidFill>
                  <a:srgbClr val="FFFFFF"/>
                </a:solidFill>
                <a:latin typeface="Calibri"/>
              </a:rPr>
              <a:t> estimates the dollar cost : the moment a storm is recorded, not days later.</a:t>
            </a:r>
            <a:r>
              <a:rPr sz="1100" b="0" i="1" dirty="0">
                <a:solidFill>
                  <a:srgbClr val="FFFFFF"/>
                </a:solidFill>
                <a:latin typeface="Calibri"/>
              </a:rPr>
              <a:t>."</a:t>
            </a:r>
          </a:p>
        </p:txBody>
      </p:sp>
      <p:sp>
        <p:nvSpPr>
          <p:cNvPr id="7" name="Rectangle 6"/>
          <p:cNvSpPr/>
          <p:nvPr/>
        </p:nvSpPr>
        <p:spPr>
          <a:xfrm>
            <a:off x="731520" y="3063240"/>
            <a:ext cx="1828800" cy="74980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108960"/>
            <a:ext cx="1828800" cy="384048"/>
          </a:xfrm>
          <a:prstGeom prst="rect">
            <a:avLst/>
          </a:prstGeom>
          <a:noFill/>
        </p:spPr>
        <p:txBody>
          <a:bodyPr wrap="square">
            <a:spAutoFit/>
          </a:bodyPr>
          <a:lstStyle/>
          <a:p>
            <a:pPr algn="ctr"/>
            <a:r>
              <a:rPr sz="2200" b="1" i="0">
                <a:solidFill>
                  <a:srgbClr val="F5A023"/>
                </a:solidFill>
                <a:latin typeface="Calibri"/>
              </a:rPr>
              <a:t>283K</a:t>
            </a:r>
          </a:p>
        </p:txBody>
      </p:sp>
      <p:sp>
        <p:nvSpPr>
          <p:cNvPr id="9" name="TextBox 8"/>
          <p:cNvSpPr txBox="1"/>
          <p:nvPr/>
        </p:nvSpPr>
        <p:spPr>
          <a:xfrm>
            <a:off x="731520" y="3474720"/>
            <a:ext cx="1828800" cy="256032"/>
          </a:xfrm>
          <a:prstGeom prst="rect">
            <a:avLst/>
          </a:prstGeom>
          <a:noFill/>
        </p:spPr>
        <p:txBody>
          <a:bodyPr wrap="square">
            <a:spAutoFit/>
          </a:bodyPr>
          <a:lstStyle/>
          <a:p>
            <a:pPr algn="ctr"/>
            <a:r>
              <a:rPr sz="1000" b="0" i="0">
                <a:solidFill>
                  <a:srgbClr val="D6E4F7"/>
                </a:solidFill>
                <a:latin typeface="Calibri"/>
              </a:rPr>
              <a:t>Storm events</a:t>
            </a:r>
          </a:p>
        </p:txBody>
      </p:sp>
      <p:sp>
        <p:nvSpPr>
          <p:cNvPr id="10" name="Rectangle 9"/>
          <p:cNvSpPr/>
          <p:nvPr/>
        </p:nvSpPr>
        <p:spPr>
          <a:xfrm>
            <a:off x="2697480" y="3063240"/>
            <a:ext cx="1828800" cy="74980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97480" y="3108960"/>
            <a:ext cx="1828800" cy="430887"/>
          </a:xfrm>
          <a:prstGeom prst="rect">
            <a:avLst/>
          </a:prstGeom>
          <a:noFill/>
        </p:spPr>
        <p:txBody>
          <a:bodyPr wrap="square">
            <a:spAutoFit/>
          </a:bodyPr>
          <a:lstStyle/>
          <a:p>
            <a:pPr algn="ctr"/>
            <a:r>
              <a:rPr sz="2200" b="1" i="0" dirty="0">
                <a:solidFill>
                  <a:srgbClr val="F5A023"/>
                </a:solidFill>
                <a:latin typeface="Calibri"/>
              </a:rPr>
              <a:t>92.</a:t>
            </a:r>
            <a:r>
              <a:rPr lang="en-US" sz="2200" b="1" i="0" dirty="0">
                <a:solidFill>
                  <a:srgbClr val="F5A023"/>
                </a:solidFill>
                <a:latin typeface="Calibri"/>
              </a:rPr>
              <a:t>2</a:t>
            </a:r>
            <a:r>
              <a:rPr sz="2200" b="1" i="0" dirty="0">
                <a:solidFill>
                  <a:srgbClr val="F5A023"/>
                </a:solidFill>
                <a:latin typeface="Calibri"/>
              </a:rPr>
              <a:t>%</a:t>
            </a:r>
          </a:p>
        </p:txBody>
      </p:sp>
      <p:sp>
        <p:nvSpPr>
          <p:cNvPr id="12" name="TextBox 11"/>
          <p:cNvSpPr txBox="1"/>
          <p:nvPr/>
        </p:nvSpPr>
        <p:spPr>
          <a:xfrm>
            <a:off x="2697480" y="3474720"/>
            <a:ext cx="1828800" cy="256032"/>
          </a:xfrm>
          <a:prstGeom prst="rect">
            <a:avLst/>
          </a:prstGeom>
          <a:noFill/>
        </p:spPr>
        <p:txBody>
          <a:bodyPr wrap="square">
            <a:spAutoFit/>
          </a:bodyPr>
          <a:lstStyle/>
          <a:p>
            <a:pPr algn="ctr"/>
            <a:r>
              <a:rPr sz="1000" b="0" i="0">
                <a:solidFill>
                  <a:srgbClr val="D6E4F7"/>
                </a:solidFill>
                <a:latin typeface="Calibri"/>
              </a:rPr>
              <a:t>Stage 1 accuracy</a:t>
            </a:r>
          </a:p>
        </p:txBody>
      </p:sp>
      <p:sp>
        <p:nvSpPr>
          <p:cNvPr id="13" name="Rectangle 12"/>
          <p:cNvSpPr/>
          <p:nvPr/>
        </p:nvSpPr>
        <p:spPr>
          <a:xfrm>
            <a:off x="4663440" y="3063240"/>
            <a:ext cx="1828800" cy="74980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3108960"/>
            <a:ext cx="1828800" cy="430887"/>
          </a:xfrm>
          <a:prstGeom prst="rect">
            <a:avLst/>
          </a:prstGeom>
          <a:noFill/>
        </p:spPr>
        <p:txBody>
          <a:bodyPr wrap="square">
            <a:spAutoFit/>
          </a:bodyPr>
          <a:lstStyle/>
          <a:p>
            <a:pPr algn="ctr"/>
            <a:r>
              <a:rPr sz="2200" b="1" i="0" dirty="0">
                <a:solidFill>
                  <a:srgbClr val="F5A023"/>
                </a:solidFill>
                <a:latin typeface="Calibri"/>
              </a:rPr>
              <a:t>0.97</a:t>
            </a:r>
            <a:r>
              <a:rPr lang="en-US" sz="2200" b="1" i="0" dirty="0">
                <a:solidFill>
                  <a:srgbClr val="F5A023"/>
                </a:solidFill>
                <a:latin typeface="Calibri"/>
              </a:rPr>
              <a:t>05</a:t>
            </a:r>
            <a:endParaRPr sz="2200" b="1" i="0" dirty="0">
              <a:solidFill>
                <a:srgbClr val="F5A023"/>
              </a:solidFill>
              <a:latin typeface="Calibri"/>
            </a:endParaRPr>
          </a:p>
        </p:txBody>
      </p:sp>
      <p:sp>
        <p:nvSpPr>
          <p:cNvPr id="15" name="TextBox 14"/>
          <p:cNvSpPr txBox="1"/>
          <p:nvPr/>
        </p:nvSpPr>
        <p:spPr>
          <a:xfrm>
            <a:off x="4663440" y="3474720"/>
            <a:ext cx="1828800" cy="256032"/>
          </a:xfrm>
          <a:prstGeom prst="rect">
            <a:avLst/>
          </a:prstGeom>
          <a:noFill/>
        </p:spPr>
        <p:txBody>
          <a:bodyPr wrap="square">
            <a:spAutoFit/>
          </a:bodyPr>
          <a:lstStyle/>
          <a:p>
            <a:pPr algn="ctr"/>
            <a:r>
              <a:rPr sz="1000" b="0" i="0">
                <a:solidFill>
                  <a:srgbClr val="D6E4F7"/>
                </a:solidFill>
                <a:latin typeface="Calibri"/>
              </a:rPr>
              <a:t>AUC score</a:t>
            </a:r>
          </a:p>
        </p:txBody>
      </p:sp>
      <p:sp>
        <p:nvSpPr>
          <p:cNvPr id="16" name="Rectangle 15"/>
          <p:cNvSpPr/>
          <p:nvPr/>
        </p:nvSpPr>
        <p:spPr>
          <a:xfrm>
            <a:off x="6629399" y="3063240"/>
            <a:ext cx="1828800" cy="749808"/>
          </a:xfrm>
          <a:prstGeom prst="rect">
            <a:avLst/>
          </a:prstGeom>
          <a:solidFill>
            <a:srgbClr val="2F5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399" y="3108960"/>
            <a:ext cx="1828800" cy="384048"/>
          </a:xfrm>
          <a:prstGeom prst="rect">
            <a:avLst/>
          </a:prstGeom>
          <a:noFill/>
        </p:spPr>
        <p:txBody>
          <a:bodyPr wrap="square">
            <a:spAutoFit/>
          </a:bodyPr>
          <a:lstStyle/>
          <a:p>
            <a:pPr algn="ctr"/>
            <a:r>
              <a:rPr sz="2200" b="1" i="0">
                <a:solidFill>
                  <a:srgbClr val="F5A023"/>
                </a:solidFill>
                <a:latin typeface="Calibri"/>
              </a:rPr>
              <a:t>0.653</a:t>
            </a:r>
          </a:p>
        </p:txBody>
      </p:sp>
      <p:sp>
        <p:nvSpPr>
          <p:cNvPr id="18" name="TextBox 17"/>
          <p:cNvSpPr txBox="1"/>
          <p:nvPr/>
        </p:nvSpPr>
        <p:spPr>
          <a:xfrm>
            <a:off x="6629399" y="3474720"/>
            <a:ext cx="1828800" cy="256032"/>
          </a:xfrm>
          <a:prstGeom prst="rect">
            <a:avLst/>
          </a:prstGeom>
          <a:noFill/>
        </p:spPr>
        <p:txBody>
          <a:bodyPr wrap="square">
            <a:spAutoFit/>
          </a:bodyPr>
          <a:lstStyle/>
          <a:p>
            <a:pPr algn="ctr"/>
            <a:r>
              <a:rPr sz="1000" b="0" i="0">
                <a:solidFill>
                  <a:srgbClr val="D6E4F7"/>
                </a:solidFill>
                <a:latin typeface="Calibri"/>
              </a:rPr>
              <a:t>Stage 2 R²</a:t>
            </a:r>
          </a:p>
        </p:txBody>
      </p:sp>
      <p:sp>
        <p:nvSpPr>
          <p:cNvPr id="19" name="TextBox 18"/>
          <p:cNvSpPr txBox="1"/>
          <p:nvPr/>
        </p:nvSpPr>
        <p:spPr>
          <a:xfrm>
            <a:off x="457200" y="4663440"/>
            <a:ext cx="8229600" cy="246221"/>
          </a:xfrm>
          <a:prstGeom prst="rect">
            <a:avLst/>
          </a:prstGeom>
          <a:noFill/>
        </p:spPr>
        <p:txBody>
          <a:bodyPr wrap="square">
            <a:spAutoFit/>
          </a:bodyPr>
          <a:lstStyle/>
          <a:p>
            <a:pPr algn="ctr"/>
            <a:r>
              <a:rPr sz="1000" b="0" i="0" dirty="0">
                <a:solidFill>
                  <a:srgbClr val="787C8A"/>
                </a:solidFill>
                <a:latin typeface="Calibri"/>
              </a:rPr>
              <a:t>Suffolk University  ·</a:t>
            </a:r>
            <a:r>
              <a:rPr lang="en-US" sz="1000" b="0" i="0" dirty="0">
                <a:solidFill>
                  <a:srgbClr val="787C8A"/>
                </a:solidFill>
                <a:latin typeface="Calibri"/>
              </a:rPr>
              <a:t> </a:t>
            </a:r>
            <a:r>
              <a:rPr sz="1000" b="0" i="0" dirty="0">
                <a:solidFill>
                  <a:srgbClr val="787C8A"/>
                </a:solidFill>
                <a:latin typeface="Calibri"/>
              </a:rPr>
              <a:t>ISOM 631  ·  </a:t>
            </a:r>
            <a:r>
              <a:rPr lang="en-US" sz="1000" b="0" i="0" dirty="0">
                <a:solidFill>
                  <a:srgbClr val="787C8A"/>
                </a:solidFill>
                <a:latin typeface="Calibri"/>
              </a:rPr>
              <a:t>April 2026</a:t>
            </a:r>
            <a:endParaRPr sz="1000" b="0" i="0" dirty="0">
              <a:solidFill>
                <a:srgbClr val="787C8A"/>
              </a:solidFill>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521</TotalTime>
  <Words>1746</Words>
  <Application>Microsoft Office PowerPoint</Application>
  <PresentationFormat>On-screen Show (16:9)</PresentationFormat>
  <Paragraphs>250</Paragraphs>
  <Slides>22</Slides>
  <Notes>3</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Rohan Saini</dc:creator>
  <cp:keywords/>
  <dc:description>generated using python-pptx</dc:description>
  <cp:lastModifiedBy>Shivani</cp:lastModifiedBy>
  <cp:revision>37</cp:revision>
  <dcterms:created xsi:type="dcterms:W3CDTF">2013-01-27T09:14:16Z</dcterms:created>
  <dcterms:modified xsi:type="dcterms:W3CDTF">2026-04-22T22:21:07Z</dcterms:modified>
  <cp:category/>
</cp:coreProperties>
</file>